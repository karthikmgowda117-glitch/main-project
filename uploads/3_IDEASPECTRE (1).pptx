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86400" y="371475"/>
            <a:ext cx="7315200" cy="131445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86400" y="371475"/>
            <a:ext cx="7315200" cy="131445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53025" y="8534400"/>
            <a:ext cx="7658100" cy="1752599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305300" y="8020113"/>
            <a:ext cx="919162" cy="747712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3776726" y="6538848"/>
            <a:ext cx="1371600" cy="635"/>
          </a:xfrm>
          <a:custGeom>
            <a:avLst/>
            <a:gdLst/>
            <a:ahLst/>
            <a:cxnLst/>
            <a:rect l="l" t="t" r="r" b="b"/>
            <a:pathLst>
              <a:path w="1371600" h="634">
                <a:moveTo>
                  <a:pt x="0" y="0"/>
                </a:moveTo>
                <a:lnTo>
                  <a:pt x="1371600" y="126"/>
                </a:lnTo>
              </a:path>
            </a:pathLst>
          </a:custGeom>
          <a:ln w="12700">
            <a:solidFill>
              <a:srgbClr val="2C1B6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8000" cy="1028699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707758" y="666432"/>
            <a:ext cx="4752086" cy="7251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5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547359" y="667067"/>
            <a:ext cx="7213600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10" b="1">
                <a:solidFill>
                  <a:srgbClr val="FFFFFF"/>
                </a:solidFill>
                <a:latin typeface="Calibri"/>
                <a:cs typeface="Calibri"/>
              </a:rPr>
              <a:t>Privacy-</a:t>
            </a:r>
            <a:r>
              <a:rPr dirty="0" sz="3600" b="1">
                <a:solidFill>
                  <a:srgbClr val="FFFFFF"/>
                </a:solidFill>
                <a:latin typeface="Calibri"/>
                <a:cs typeface="Calibri"/>
              </a:rPr>
              <a:t>First</a:t>
            </a:r>
            <a:r>
              <a:rPr dirty="0" sz="3600" spc="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600" spc="-35" b="1">
                <a:solidFill>
                  <a:srgbClr val="FFFFFF"/>
                </a:solidFill>
                <a:latin typeface="Calibri"/>
                <a:cs typeface="Calibri"/>
              </a:rPr>
              <a:t>On-</a:t>
            </a:r>
            <a:r>
              <a:rPr dirty="0" sz="3600" b="1">
                <a:solidFill>
                  <a:srgbClr val="FFFFFF"/>
                </a:solidFill>
                <a:latin typeface="Calibri"/>
                <a:cs typeface="Calibri"/>
              </a:rPr>
              <a:t>Device</a:t>
            </a:r>
            <a:r>
              <a:rPr dirty="0" sz="360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600" b="1">
                <a:solidFill>
                  <a:srgbClr val="FFFFFF"/>
                </a:solidFill>
                <a:latin typeface="Calibri"/>
                <a:cs typeface="Calibri"/>
              </a:rPr>
              <a:t>AI </a:t>
            </a:r>
            <a:r>
              <a:rPr dirty="0" sz="3600" spc="-10" b="1">
                <a:solidFill>
                  <a:srgbClr val="FFFFFF"/>
                </a:solidFill>
                <a:latin typeface="Calibri"/>
                <a:cs typeface="Calibri"/>
              </a:rPr>
              <a:t>Companion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75046" y="2447607"/>
            <a:ext cx="6845300" cy="63182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950" b="1">
                <a:latin typeface="Arial"/>
                <a:cs typeface="Arial"/>
              </a:rPr>
              <a:t>Team</a:t>
            </a:r>
            <a:r>
              <a:rPr dirty="0" sz="3950" spc="-155" b="1">
                <a:latin typeface="Arial"/>
                <a:cs typeface="Arial"/>
              </a:rPr>
              <a:t> </a:t>
            </a:r>
            <a:r>
              <a:rPr dirty="0" sz="3950" spc="-10" b="1">
                <a:latin typeface="Arial"/>
                <a:cs typeface="Arial"/>
              </a:rPr>
              <a:t>NAME</a:t>
            </a:r>
            <a:r>
              <a:rPr dirty="0" sz="3950" spc="-229" b="1">
                <a:latin typeface="Arial"/>
                <a:cs typeface="Arial"/>
              </a:rPr>
              <a:t> </a:t>
            </a:r>
            <a:r>
              <a:rPr dirty="0" sz="3950" b="1">
                <a:latin typeface="Arial"/>
                <a:cs typeface="Arial"/>
              </a:rPr>
              <a:t>:</a:t>
            </a:r>
            <a:r>
              <a:rPr dirty="0" sz="3950" spc="-150" b="1">
                <a:latin typeface="Arial"/>
                <a:cs typeface="Arial"/>
              </a:rPr>
              <a:t> </a:t>
            </a:r>
            <a:r>
              <a:rPr dirty="0" sz="3950" b="1">
                <a:solidFill>
                  <a:srgbClr val="8EB4E2"/>
                </a:solidFill>
                <a:latin typeface="Arial"/>
                <a:cs typeface="Arial"/>
              </a:rPr>
              <a:t>AI</a:t>
            </a:r>
            <a:r>
              <a:rPr dirty="0" sz="3950" spc="-180" b="1">
                <a:solidFill>
                  <a:srgbClr val="8EB4E2"/>
                </a:solidFill>
                <a:latin typeface="Arial"/>
                <a:cs typeface="Arial"/>
              </a:rPr>
              <a:t> </a:t>
            </a:r>
            <a:r>
              <a:rPr dirty="0" sz="3950" spc="-10" b="1">
                <a:solidFill>
                  <a:srgbClr val="8EB4E2"/>
                </a:solidFill>
                <a:latin typeface="Arial"/>
                <a:cs typeface="Arial"/>
              </a:rPr>
              <a:t>VANGUARD</a:t>
            </a:r>
            <a:endParaRPr sz="395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14950" y="8134349"/>
            <a:ext cx="7658100" cy="2152648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86400" y="371475"/>
            <a:ext cx="7315200" cy="1314450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1679575" y="4807264"/>
            <a:ext cx="1868805" cy="1344295"/>
          </a:xfrm>
          <a:prstGeom prst="rect">
            <a:avLst/>
          </a:prstGeom>
        </p:spPr>
        <p:txBody>
          <a:bodyPr wrap="square" lIns="0" tIns="13779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85"/>
              </a:spcBef>
            </a:pPr>
            <a:r>
              <a:rPr dirty="0" sz="3950" b="1">
                <a:solidFill>
                  <a:srgbClr val="C084FB"/>
                </a:solidFill>
                <a:latin typeface="Calibri"/>
                <a:cs typeface="Calibri"/>
              </a:rPr>
              <a:t>SW-</a:t>
            </a:r>
            <a:r>
              <a:rPr dirty="0" sz="3950" spc="-50" b="1">
                <a:solidFill>
                  <a:srgbClr val="C084FB"/>
                </a:solidFill>
                <a:latin typeface="Calibri"/>
                <a:cs typeface="Calibri"/>
              </a:rPr>
              <a:t>3</a:t>
            </a:r>
            <a:endParaRPr sz="395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815"/>
              </a:spcBef>
            </a:pPr>
            <a:r>
              <a:rPr dirty="0" sz="3200">
                <a:solidFill>
                  <a:srgbClr val="9F9FC0"/>
                </a:solidFill>
                <a:latin typeface="Calibri"/>
                <a:cs typeface="Calibri"/>
              </a:rPr>
              <a:t>Problem</a:t>
            </a:r>
            <a:r>
              <a:rPr dirty="0" sz="3200" spc="-125">
                <a:solidFill>
                  <a:srgbClr val="9F9FC0"/>
                </a:solidFill>
                <a:latin typeface="Calibri"/>
                <a:cs typeface="Calibri"/>
              </a:rPr>
              <a:t> </a:t>
            </a:r>
            <a:r>
              <a:rPr dirty="0" sz="3200" spc="-25">
                <a:solidFill>
                  <a:srgbClr val="9F9FC0"/>
                </a:solidFill>
                <a:latin typeface="Calibri"/>
                <a:cs typeface="Calibri"/>
              </a:rPr>
              <a:t>ID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7361935" y="4807264"/>
            <a:ext cx="2367915" cy="1344295"/>
          </a:xfrm>
          <a:prstGeom prst="rect">
            <a:avLst/>
          </a:prstGeom>
        </p:spPr>
        <p:txBody>
          <a:bodyPr wrap="square" lIns="0" tIns="13779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85"/>
              </a:spcBef>
            </a:pPr>
            <a:r>
              <a:rPr dirty="0" sz="3950" spc="-10" b="1">
                <a:solidFill>
                  <a:srgbClr val="C084FB"/>
                </a:solidFill>
                <a:latin typeface="Calibri"/>
                <a:cs typeface="Calibri"/>
              </a:rPr>
              <a:t>SOFTWARE</a:t>
            </a:r>
            <a:endParaRPr sz="3950">
              <a:latin typeface="Calibri"/>
              <a:cs typeface="Calibri"/>
            </a:endParaRPr>
          </a:p>
          <a:p>
            <a:pPr algn="ctr" marL="2540">
              <a:lnSpc>
                <a:spcPct val="100000"/>
              </a:lnSpc>
              <a:spcBef>
                <a:spcPts val="815"/>
              </a:spcBef>
            </a:pPr>
            <a:r>
              <a:rPr dirty="0" sz="3200" spc="-10">
                <a:solidFill>
                  <a:srgbClr val="9F9FC0"/>
                </a:solidFill>
                <a:latin typeface="Calibri"/>
                <a:cs typeface="Calibri"/>
              </a:rPr>
              <a:t>Category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3900531" y="4953858"/>
            <a:ext cx="2431415" cy="1198245"/>
          </a:xfrm>
          <a:prstGeom prst="rect">
            <a:avLst/>
          </a:prstGeom>
        </p:spPr>
        <p:txBody>
          <a:bodyPr wrap="square" lIns="0" tIns="5715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50"/>
              </a:spcBef>
            </a:pPr>
            <a:r>
              <a:rPr dirty="0" sz="3950" b="1">
                <a:solidFill>
                  <a:srgbClr val="C084FB"/>
                </a:solidFill>
                <a:latin typeface="Calibri"/>
                <a:cs typeface="Calibri"/>
              </a:rPr>
              <a:t>AI</a:t>
            </a:r>
            <a:r>
              <a:rPr dirty="0" sz="3950" spc="65" b="1">
                <a:solidFill>
                  <a:srgbClr val="C084FB"/>
                </a:solidFill>
                <a:latin typeface="Calibri"/>
                <a:cs typeface="Calibri"/>
              </a:rPr>
              <a:t> </a:t>
            </a:r>
            <a:r>
              <a:rPr dirty="0" sz="3950" b="1">
                <a:solidFill>
                  <a:srgbClr val="C084FB"/>
                </a:solidFill>
                <a:latin typeface="Calibri"/>
                <a:cs typeface="Calibri"/>
              </a:rPr>
              <a:t>/</a:t>
            </a:r>
            <a:r>
              <a:rPr dirty="0" sz="3950" spc="35" b="1">
                <a:solidFill>
                  <a:srgbClr val="C084FB"/>
                </a:solidFill>
                <a:latin typeface="Calibri"/>
                <a:cs typeface="Calibri"/>
              </a:rPr>
              <a:t> </a:t>
            </a:r>
            <a:r>
              <a:rPr dirty="0" sz="3950" spc="-10" b="1">
                <a:solidFill>
                  <a:srgbClr val="C084FB"/>
                </a:solidFill>
                <a:latin typeface="Calibri"/>
                <a:cs typeface="Calibri"/>
              </a:rPr>
              <a:t>Privacy</a:t>
            </a:r>
            <a:endParaRPr sz="3950">
              <a:latin typeface="Calibri"/>
              <a:cs typeface="Calibri"/>
            </a:endParaRPr>
          </a:p>
          <a:p>
            <a:pPr algn="ctr" marL="3810">
              <a:lnSpc>
                <a:spcPct val="100000"/>
              </a:lnSpc>
              <a:spcBef>
                <a:spcPts val="295"/>
              </a:spcBef>
            </a:pPr>
            <a:r>
              <a:rPr dirty="0" sz="3200" spc="-10">
                <a:solidFill>
                  <a:srgbClr val="9F9FC0"/>
                </a:solidFill>
                <a:latin typeface="Calibri"/>
                <a:cs typeface="Calibri"/>
              </a:rPr>
              <a:t>Track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72720">
              <a:lnSpc>
                <a:spcPct val="100000"/>
              </a:lnSpc>
              <a:spcBef>
                <a:spcPts val="125"/>
              </a:spcBef>
            </a:pPr>
            <a:r>
              <a:rPr dirty="0"/>
              <a:t>Problem</a:t>
            </a:r>
            <a:r>
              <a:rPr dirty="0" spc="80"/>
              <a:t> </a:t>
            </a:r>
            <a:r>
              <a:rPr dirty="0" spc="-10"/>
              <a:t>Understanding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14950" y="8134349"/>
            <a:ext cx="7658100" cy="2152648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396557" y="2160206"/>
            <a:ext cx="6621780" cy="49695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just" marL="13970">
              <a:lnSpc>
                <a:spcPct val="100000"/>
              </a:lnSpc>
              <a:spcBef>
                <a:spcPts val="125"/>
              </a:spcBef>
            </a:pPr>
            <a:r>
              <a:rPr dirty="0" sz="2750" b="1">
                <a:solidFill>
                  <a:srgbClr val="C084FB"/>
                </a:solidFill>
                <a:latin typeface="Calibri"/>
                <a:cs typeface="Calibri"/>
              </a:rPr>
              <a:t>Our</a:t>
            </a:r>
            <a:r>
              <a:rPr dirty="0" sz="2750" spc="45" b="1">
                <a:solidFill>
                  <a:srgbClr val="C084FB"/>
                </a:solidFill>
                <a:latin typeface="Calibri"/>
                <a:cs typeface="Calibri"/>
              </a:rPr>
              <a:t> </a:t>
            </a:r>
            <a:r>
              <a:rPr dirty="0" sz="2750" spc="-10" b="1">
                <a:solidFill>
                  <a:srgbClr val="C084FB"/>
                </a:solidFill>
                <a:latin typeface="Calibri"/>
                <a:cs typeface="Calibri"/>
              </a:rPr>
              <a:t>Interpretation</a:t>
            </a:r>
            <a:endParaRPr sz="27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14"/>
              </a:spcBef>
            </a:pPr>
            <a:endParaRPr sz="2750">
              <a:latin typeface="Calibri"/>
              <a:cs typeface="Calibri"/>
            </a:endParaRPr>
          </a:p>
          <a:p>
            <a:pPr algn="just" marL="12700" marR="13335">
              <a:lnSpc>
                <a:spcPct val="102299"/>
              </a:lnSpc>
            </a:pP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Today's</a:t>
            </a:r>
            <a:r>
              <a:rPr dirty="0" sz="2750" spc="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AI</a:t>
            </a:r>
            <a:r>
              <a:rPr dirty="0" sz="2750" spc="1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assistants</a:t>
            </a:r>
            <a:r>
              <a:rPr dirty="0" sz="2750" spc="1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send</a:t>
            </a:r>
            <a:r>
              <a:rPr dirty="0" sz="2750" spc="1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your</a:t>
            </a:r>
            <a:r>
              <a:rPr dirty="0" sz="2750" spc="1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personal</a:t>
            </a:r>
            <a:r>
              <a:rPr dirty="0" sz="2750" spc="1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 spc="-20">
                <a:solidFill>
                  <a:srgbClr val="FFFFFF"/>
                </a:solidFill>
                <a:latin typeface="Calibri"/>
                <a:cs typeface="Calibri"/>
              </a:rPr>
              <a:t>data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2750" spc="335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remote</a:t>
            </a:r>
            <a:r>
              <a:rPr dirty="0" sz="2750" spc="335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dirty="0" sz="2750" spc="35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servers</a:t>
            </a:r>
            <a:r>
              <a:rPr dirty="0" sz="2750" spc="345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—</a:t>
            </a:r>
            <a:r>
              <a:rPr dirty="0" sz="2750" spc="36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your</a:t>
            </a:r>
            <a:r>
              <a:rPr dirty="0" sz="2750" spc="36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2750" spc="-10">
                <a:solidFill>
                  <a:srgbClr val="FFFFFF"/>
                </a:solidFill>
                <a:latin typeface="Calibri"/>
                <a:cs typeface="Calibri"/>
              </a:rPr>
              <a:t>habits,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health</a:t>
            </a:r>
            <a:r>
              <a:rPr dirty="0" sz="2750" spc="3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queries,</a:t>
            </a:r>
            <a:r>
              <a:rPr dirty="0" sz="2750" spc="3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messages,</a:t>
            </a:r>
            <a:r>
              <a:rPr dirty="0" sz="2750" spc="3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2750" spc="3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location</a:t>
            </a:r>
            <a:r>
              <a:rPr dirty="0" sz="2750" spc="3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—</a:t>
            </a:r>
            <a:r>
              <a:rPr dirty="0" sz="2750" spc="3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 spc="-25">
                <a:solidFill>
                  <a:srgbClr val="FFFFFF"/>
                </a:solidFill>
                <a:latin typeface="Calibri"/>
                <a:cs typeface="Calibri"/>
              </a:rPr>
              <a:t>all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stored</a:t>
            </a:r>
            <a:r>
              <a:rPr dirty="0" sz="2750" spc="1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2750" spc="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processed</a:t>
            </a:r>
            <a:r>
              <a:rPr dirty="0" sz="2750" spc="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 spc="-10">
                <a:solidFill>
                  <a:srgbClr val="FFFFFF"/>
                </a:solidFill>
                <a:latin typeface="Calibri"/>
                <a:cs typeface="Calibri"/>
              </a:rPr>
              <a:t>externally.</a:t>
            </a:r>
            <a:endParaRPr sz="2750">
              <a:latin typeface="Calibri"/>
              <a:cs typeface="Calibri"/>
            </a:endParaRPr>
          </a:p>
          <a:p>
            <a:pPr algn="just" marL="12700" marR="5080">
              <a:lnSpc>
                <a:spcPct val="102400"/>
              </a:lnSpc>
              <a:spcBef>
                <a:spcPts val="3304"/>
              </a:spcBef>
            </a:pP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750" spc="2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challenge:</a:t>
            </a:r>
            <a:r>
              <a:rPr dirty="0" sz="2750" spc="3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Build</a:t>
            </a:r>
            <a:r>
              <a:rPr dirty="0" sz="2750" spc="3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an</a:t>
            </a:r>
            <a:r>
              <a:rPr dirty="0" sz="2750" spc="2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AI</a:t>
            </a:r>
            <a:r>
              <a:rPr dirty="0" sz="2750" spc="2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companion</a:t>
            </a:r>
            <a:r>
              <a:rPr dirty="0" sz="2750" spc="30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dirty="0" sz="2750" spc="30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 spc="-25">
                <a:solidFill>
                  <a:srgbClr val="FFFFFF"/>
                </a:solidFill>
                <a:latin typeface="Calibri"/>
                <a:cs typeface="Calibri"/>
              </a:rPr>
              <a:t>is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fully</a:t>
            </a:r>
            <a:r>
              <a:rPr dirty="0" sz="2750" spc="1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intelligent</a:t>
            </a:r>
            <a:r>
              <a:rPr dirty="0" sz="2750" spc="2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yet</a:t>
            </a:r>
            <a:r>
              <a:rPr dirty="0" sz="2750" spc="20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runs</a:t>
            </a:r>
            <a:r>
              <a:rPr dirty="0" sz="2750" spc="2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entirely</a:t>
            </a:r>
            <a:r>
              <a:rPr dirty="0" sz="2750" spc="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on-device</a:t>
            </a:r>
            <a:r>
              <a:rPr dirty="0" sz="2750" spc="2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 spc="-50">
                <a:solidFill>
                  <a:srgbClr val="FFFFFF"/>
                </a:solidFill>
                <a:latin typeface="Calibri"/>
                <a:cs typeface="Calibri"/>
              </a:rPr>
              <a:t>—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learning</a:t>
            </a:r>
            <a:r>
              <a:rPr dirty="0" sz="2750" spc="5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user</a:t>
            </a:r>
            <a:r>
              <a:rPr dirty="0" sz="2750" spc="6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behavior</a:t>
            </a:r>
            <a:r>
              <a:rPr dirty="0" sz="2750" spc="6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without</a:t>
            </a:r>
            <a:r>
              <a:rPr dirty="0" sz="2750" spc="5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ever</a:t>
            </a:r>
            <a:r>
              <a:rPr dirty="0" sz="2750" spc="5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 spc="-10">
                <a:solidFill>
                  <a:srgbClr val="FFFFFF"/>
                </a:solidFill>
                <a:latin typeface="Calibri"/>
                <a:cs typeface="Calibri"/>
              </a:rPr>
              <a:t>leaking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dirty="0" sz="2750" spc="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off</a:t>
            </a:r>
            <a:r>
              <a:rPr dirty="0" sz="2750" spc="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750" spc="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 spc="-10">
                <a:solidFill>
                  <a:srgbClr val="FFFFFF"/>
                </a:solidFill>
                <a:latin typeface="Calibri"/>
                <a:cs typeface="Calibri"/>
              </a:rPr>
              <a:t>phone.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158226" y="2096452"/>
            <a:ext cx="8641715" cy="58312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1590">
              <a:lnSpc>
                <a:spcPct val="100000"/>
              </a:lnSpc>
              <a:spcBef>
                <a:spcPts val="125"/>
              </a:spcBef>
            </a:pPr>
            <a:r>
              <a:rPr dirty="0" sz="2750" b="1">
                <a:solidFill>
                  <a:srgbClr val="C084FB"/>
                </a:solidFill>
                <a:latin typeface="Calibri"/>
                <a:cs typeface="Calibri"/>
              </a:rPr>
              <a:t>Key</a:t>
            </a:r>
            <a:r>
              <a:rPr dirty="0" sz="2750" spc="105" b="1">
                <a:solidFill>
                  <a:srgbClr val="C084FB"/>
                </a:solidFill>
                <a:latin typeface="Calibri"/>
                <a:cs typeface="Calibri"/>
              </a:rPr>
              <a:t> </a:t>
            </a:r>
            <a:r>
              <a:rPr dirty="0" sz="2750" spc="-10" b="1">
                <a:solidFill>
                  <a:srgbClr val="C084FB"/>
                </a:solidFill>
                <a:latin typeface="Calibri"/>
                <a:cs typeface="Calibri"/>
              </a:rPr>
              <a:t>Constraints</a:t>
            </a:r>
            <a:endParaRPr sz="27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695"/>
              </a:spcBef>
              <a:buChar char="•"/>
              <a:tabLst>
                <a:tab pos="354965" algn="l"/>
              </a:tabLst>
            </a:pP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No</a:t>
            </a:r>
            <a:r>
              <a:rPr dirty="0" sz="2750" spc="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dirty="0" sz="2750" spc="1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leaves</a:t>
            </a:r>
            <a:r>
              <a:rPr dirty="0" sz="2750" spc="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750" spc="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device</a:t>
            </a:r>
            <a:r>
              <a:rPr dirty="0" sz="2750" spc="1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—</a:t>
            </a:r>
            <a:r>
              <a:rPr dirty="0" sz="2750" spc="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 spc="-20">
                <a:solidFill>
                  <a:srgbClr val="FFFFFF"/>
                </a:solidFill>
                <a:latin typeface="Calibri"/>
                <a:cs typeface="Calibri"/>
              </a:rPr>
              <a:t>ever</a:t>
            </a:r>
            <a:endParaRPr sz="27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80"/>
              </a:spcBef>
              <a:buChar char="•"/>
              <a:tabLst>
                <a:tab pos="354965" algn="l"/>
              </a:tabLst>
            </a:pP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r>
              <a:rPr dirty="0" sz="2750" spc="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must</a:t>
            </a:r>
            <a:r>
              <a:rPr dirty="0" sz="2750" spc="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run</a:t>
            </a:r>
            <a:r>
              <a:rPr dirty="0" sz="2750" spc="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dirty="0" sz="2750" spc="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mobile</a:t>
            </a:r>
            <a:r>
              <a:rPr dirty="0" sz="2750" spc="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hardware</a:t>
            </a:r>
            <a:r>
              <a:rPr dirty="0" sz="2750" spc="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(limited</a:t>
            </a:r>
            <a:r>
              <a:rPr dirty="0" sz="2750" spc="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 spc="-10">
                <a:solidFill>
                  <a:srgbClr val="FFFFFF"/>
                </a:solidFill>
                <a:latin typeface="Calibri"/>
                <a:cs typeface="Calibri"/>
              </a:rPr>
              <a:t>RAM/CPU)</a:t>
            </a:r>
            <a:endParaRPr sz="27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5"/>
              </a:spcBef>
              <a:buChar char="•"/>
              <a:tabLst>
                <a:tab pos="354965" algn="l"/>
              </a:tabLst>
            </a:pP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AI</a:t>
            </a:r>
            <a:r>
              <a:rPr dirty="0" sz="2750" spc="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must</a:t>
            </a:r>
            <a:r>
              <a:rPr dirty="0" sz="2750" spc="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improve</a:t>
            </a:r>
            <a:r>
              <a:rPr dirty="0" sz="2750" spc="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over</a:t>
            </a:r>
            <a:r>
              <a:rPr dirty="0" sz="2750" spc="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time</a:t>
            </a:r>
            <a:r>
              <a:rPr dirty="0" sz="2750" spc="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dirty="0" sz="2750" spc="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local</a:t>
            </a:r>
            <a:r>
              <a:rPr dirty="0" sz="2750" spc="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 spc="-10">
                <a:solidFill>
                  <a:srgbClr val="FFFFFF"/>
                </a:solidFill>
                <a:latin typeface="Calibri"/>
                <a:cs typeface="Calibri"/>
              </a:rPr>
              <a:t>learning</a:t>
            </a:r>
            <a:endParaRPr sz="27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Char char="•"/>
              <a:tabLst>
                <a:tab pos="354965" algn="l"/>
              </a:tabLst>
            </a:pP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Must</a:t>
            </a:r>
            <a:r>
              <a:rPr dirty="0" sz="2750" spc="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function</a:t>
            </a:r>
            <a:r>
              <a:rPr dirty="0" sz="2750" spc="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fully</a:t>
            </a:r>
            <a:r>
              <a:rPr dirty="0" sz="2750" spc="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 spc="-10">
                <a:solidFill>
                  <a:srgbClr val="FFFFFF"/>
                </a:solidFill>
                <a:latin typeface="Calibri"/>
                <a:cs typeface="Calibri"/>
              </a:rPr>
              <a:t>offline</a:t>
            </a:r>
            <a:endParaRPr sz="2750">
              <a:latin typeface="Calibri"/>
              <a:cs typeface="Calibri"/>
            </a:endParaRPr>
          </a:p>
          <a:p>
            <a:pPr marL="20320">
              <a:lnSpc>
                <a:spcPct val="100000"/>
              </a:lnSpc>
              <a:spcBef>
                <a:spcPts val="2430"/>
              </a:spcBef>
            </a:pPr>
            <a:r>
              <a:rPr dirty="0" sz="2750" b="1">
                <a:solidFill>
                  <a:srgbClr val="C084FB"/>
                </a:solidFill>
                <a:latin typeface="Calibri"/>
                <a:cs typeface="Calibri"/>
              </a:rPr>
              <a:t>Why</a:t>
            </a:r>
            <a:r>
              <a:rPr dirty="0" sz="2750" spc="50" b="1">
                <a:solidFill>
                  <a:srgbClr val="C084FB"/>
                </a:solidFill>
                <a:latin typeface="Calibri"/>
                <a:cs typeface="Calibri"/>
              </a:rPr>
              <a:t> </a:t>
            </a:r>
            <a:r>
              <a:rPr dirty="0" sz="2750" b="1">
                <a:solidFill>
                  <a:srgbClr val="C084FB"/>
                </a:solidFill>
                <a:latin typeface="Calibri"/>
                <a:cs typeface="Calibri"/>
              </a:rPr>
              <a:t>It</a:t>
            </a:r>
            <a:r>
              <a:rPr dirty="0" sz="2750" spc="105" b="1">
                <a:solidFill>
                  <a:srgbClr val="C084FB"/>
                </a:solidFill>
                <a:latin typeface="Calibri"/>
                <a:cs typeface="Calibri"/>
              </a:rPr>
              <a:t> </a:t>
            </a:r>
            <a:r>
              <a:rPr dirty="0" sz="2750" spc="-10" b="1">
                <a:solidFill>
                  <a:srgbClr val="C084FB"/>
                </a:solidFill>
                <a:latin typeface="Calibri"/>
                <a:cs typeface="Calibri"/>
              </a:rPr>
              <a:t>Matters</a:t>
            </a:r>
            <a:endParaRPr sz="2750">
              <a:latin typeface="Calibri"/>
              <a:cs typeface="Calibri"/>
            </a:endParaRPr>
          </a:p>
          <a:p>
            <a:pPr marL="355600" marR="1118235" indent="-342900">
              <a:lnSpc>
                <a:spcPct val="102299"/>
              </a:lnSpc>
              <a:spcBef>
                <a:spcPts val="409"/>
              </a:spcBef>
              <a:buChar char="•"/>
              <a:tabLst>
                <a:tab pos="355600" algn="l"/>
              </a:tabLst>
            </a:pP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4.8B</a:t>
            </a:r>
            <a:r>
              <a:rPr dirty="0" sz="2750" spc="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smartphone</a:t>
            </a:r>
            <a:r>
              <a:rPr dirty="0" sz="2750" spc="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users</a:t>
            </a:r>
            <a:r>
              <a:rPr dirty="0" sz="2750" spc="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dirty="0" sz="2750" spc="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exposed</a:t>
            </a:r>
            <a:r>
              <a:rPr dirty="0" sz="2750" spc="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2750" spc="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dirty="0" sz="2750" spc="1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 spc="-20">
                <a:solidFill>
                  <a:srgbClr val="FFFFFF"/>
                </a:solidFill>
                <a:latin typeface="Calibri"/>
                <a:cs typeface="Calibri"/>
              </a:rPr>
              <a:t>data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harvesting</a:t>
            </a:r>
            <a:r>
              <a:rPr dirty="0" sz="2750" spc="11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 spc="-10">
                <a:solidFill>
                  <a:srgbClr val="FFFFFF"/>
                </a:solidFill>
                <a:latin typeface="Calibri"/>
                <a:cs typeface="Calibri"/>
              </a:rPr>
              <a:t>daily</a:t>
            </a:r>
            <a:endParaRPr sz="27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5"/>
              </a:spcBef>
              <a:buChar char="•"/>
              <a:tabLst>
                <a:tab pos="354965" algn="l"/>
              </a:tabLst>
            </a:pP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Healthcare,</a:t>
            </a:r>
            <a:r>
              <a:rPr dirty="0" sz="2750" spc="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legal</a:t>
            </a:r>
            <a:r>
              <a:rPr dirty="0" sz="2750" spc="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dirty="0" sz="2750" spc="11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personal</a:t>
            </a:r>
            <a:r>
              <a:rPr dirty="0" sz="2750" spc="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dirty="0" sz="2750" spc="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misused</a:t>
            </a:r>
            <a:r>
              <a:rPr dirty="0" sz="2750" spc="1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dirty="0" sz="2750" spc="1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 spc="-10">
                <a:solidFill>
                  <a:srgbClr val="FFFFFF"/>
                </a:solidFill>
                <a:latin typeface="Calibri"/>
                <a:cs typeface="Calibri"/>
              </a:rPr>
              <a:t>targeting</a:t>
            </a:r>
            <a:endParaRPr sz="2750">
              <a:latin typeface="Calibri"/>
              <a:cs typeface="Calibri"/>
            </a:endParaRPr>
          </a:p>
          <a:p>
            <a:pPr marL="355600" marR="5080" indent="-342900">
              <a:lnSpc>
                <a:spcPts val="3379"/>
              </a:lnSpc>
              <a:spcBef>
                <a:spcPts val="50"/>
              </a:spcBef>
              <a:buChar char="•"/>
              <a:tabLst>
                <a:tab pos="355600" algn="l"/>
              </a:tabLst>
            </a:pP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On-device</a:t>
            </a:r>
            <a:r>
              <a:rPr dirty="0" sz="2750" spc="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AI</a:t>
            </a:r>
            <a:r>
              <a:rPr dirty="0" sz="2750" spc="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dirty="0" sz="2750" spc="1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750" spc="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next</a:t>
            </a:r>
            <a:r>
              <a:rPr dirty="0" sz="2750" spc="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frontier</a:t>
            </a:r>
            <a:r>
              <a:rPr dirty="0" sz="2750" spc="1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—</a:t>
            </a:r>
            <a:r>
              <a:rPr dirty="0" sz="2750" spc="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Apple,</a:t>
            </a:r>
            <a:r>
              <a:rPr dirty="0" sz="2750" spc="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Google</a:t>
            </a:r>
            <a:r>
              <a:rPr dirty="0" sz="2750" spc="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 spc="-10">
                <a:solidFill>
                  <a:srgbClr val="FFFFFF"/>
                </a:solidFill>
                <a:latin typeface="Calibri"/>
                <a:cs typeface="Calibri"/>
              </a:rPr>
              <a:t>already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moving</a:t>
            </a:r>
            <a:r>
              <a:rPr dirty="0" sz="2750" spc="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 spc="-20">
                <a:solidFill>
                  <a:srgbClr val="FFFFFF"/>
                </a:solidFill>
                <a:latin typeface="Calibri"/>
                <a:cs typeface="Calibri"/>
              </a:rPr>
              <a:t>here</a:t>
            </a:r>
            <a:endParaRPr sz="2750">
              <a:latin typeface="Calibri"/>
              <a:cs typeface="Calibri"/>
            </a:endParaRPr>
          </a:p>
          <a:p>
            <a:pPr marL="354965" indent="-342265">
              <a:lnSpc>
                <a:spcPts val="3250"/>
              </a:lnSpc>
              <a:buChar char="•"/>
              <a:tabLst>
                <a:tab pos="354965" algn="l"/>
              </a:tabLst>
            </a:pP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Privacy</a:t>
            </a:r>
            <a:r>
              <a:rPr dirty="0" sz="2750" spc="10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dirty="0" sz="2750" spc="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750" spc="10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fundamental</a:t>
            </a:r>
            <a:r>
              <a:rPr dirty="0" sz="2750" spc="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right,</a:t>
            </a:r>
            <a:r>
              <a:rPr dirty="0" sz="2750" spc="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not</a:t>
            </a:r>
            <a:r>
              <a:rPr dirty="0" sz="2750" spc="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750" spc="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 spc="-10">
                <a:solidFill>
                  <a:srgbClr val="FFFFFF"/>
                </a:solidFill>
                <a:latin typeface="Calibri"/>
                <a:cs typeface="Calibri"/>
              </a:rPr>
              <a:t>feature</a:t>
            </a:r>
            <a:endParaRPr sz="27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395591" y="666432"/>
            <a:ext cx="3486785" cy="5403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>
                <a:solidFill>
                  <a:srgbClr val="FFFFFF"/>
                </a:solidFill>
                <a:latin typeface="Arial MT"/>
                <a:cs typeface="Arial MT"/>
              </a:rPr>
              <a:t>Solution</a:t>
            </a:r>
            <a:r>
              <a:rPr dirty="0" sz="3350" spc="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350" spc="-10">
                <a:solidFill>
                  <a:srgbClr val="FFFFFF"/>
                </a:solidFill>
                <a:latin typeface="Arial MT"/>
                <a:cs typeface="Arial MT"/>
              </a:rPr>
              <a:t>Overview</a:t>
            </a:r>
            <a:endParaRPr sz="3350">
              <a:latin typeface="Arial MT"/>
              <a:cs typeface="Arial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14950" y="8134349"/>
            <a:ext cx="7658100" cy="2152648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11996801" y="1909698"/>
            <a:ext cx="1371600" cy="635"/>
          </a:xfrm>
          <a:custGeom>
            <a:avLst/>
            <a:gdLst/>
            <a:ahLst/>
            <a:cxnLst/>
            <a:rect l="l" t="t" r="r" b="b"/>
            <a:pathLst>
              <a:path w="1371600" h="635">
                <a:moveTo>
                  <a:pt x="0" y="0"/>
                </a:moveTo>
                <a:lnTo>
                  <a:pt x="1371600" y="126"/>
                </a:lnTo>
              </a:path>
            </a:pathLst>
          </a:custGeom>
          <a:ln w="12700">
            <a:solidFill>
              <a:srgbClr val="2C1B6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2454001" y="2185923"/>
            <a:ext cx="914400" cy="635"/>
          </a:xfrm>
          <a:custGeom>
            <a:avLst/>
            <a:gdLst/>
            <a:ahLst/>
            <a:cxnLst/>
            <a:rect l="l" t="t" r="r" b="b"/>
            <a:pathLst>
              <a:path w="914400" h="635">
                <a:moveTo>
                  <a:pt x="0" y="0"/>
                </a:moveTo>
                <a:lnTo>
                  <a:pt x="914400" y="126"/>
                </a:lnTo>
              </a:path>
            </a:pathLst>
          </a:custGeom>
          <a:ln w="12700">
            <a:solidFill>
              <a:srgbClr val="2C1B6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249676" y="2422524"/>
            <a:ext cx="11778615" cy="57531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600" b="1" i="1">
                <a:solidFill>
                  <a:srgbClr val="C084FB"/>
                </a:solidFill>
                <a:latin typeface="Calibri"/>
                <a:cs typeface="Calibri"/>
              </a:rPr>
              <a:t>"PrivaMind"</a:t>
            </a:r>
            <a:r>
              <a:rPr dirty="0" sz="3600" spc="-105" b="1" i="1">
                <a:solidFill>
                  <a:srgbClr val="C084FB"/>
                </a:solidFill>
                <a:latin typeface="Calibri"/>
                <a:cs typeface="Calibri"/>
              </a:rPr>
              <a:t> </a:t>
            </a:r>
            <a:r>
              <a:rPr dirty="0" sz="3600" b="1" i="1">
                <a:solidFill>
                  <a:srgbClr val="C084FB"/>
                </a:solidFill>
                <a:latin typeface="Calibri"/>
                <a:cs typeface="Calibri"/>
              </a:rPr>
              <a:t>—</a:t>
            </a:r>
            <a:r>
              <a:rPr dirty="0" sz="3600" spc="-70" b="1" i="1">
                <a:solidFill>
                  <a:srgbClr val="C084FB"/>
                </a:solidFill>
                <a:latin typeface="Calibri"/>
                <a:cs typeface="Calibri"/>
              </a:rPr>
              <a:t> </a:t>
            </a:r>
            <a:r>
              <a:rPr dirty="0" sz="3600" spc="-30" b="1" i="1">
                <a:solidFill>
                  <a:srgbClr val="C084FB"/>
                </a:solidFill>
                <a:latin typeface="Calibri"/>
                <a:cs typeface="Calibri"/>
              </a:rPr>
              <a:t>Your</a:t>
            </a:r>
            <a:r>
              <a:rPr dirty="0" sz="3600" spc="-60" b="1" i="1">
                <a:solidFill>
                  <a:srgbClr val="C084FB"/>
                </a:solidFill>
                <a:latin typeface="Calibri"/>
                <a:cs typeface="Calibri"/>
              </a:rPr>
              <a:t> </a:t>
            </a:r>
            <a:r>
              <a:rPr dirty="0" sz="3600" b="1" i="1">
                <a:solidFill>
                  <a:srgbClr val="C084FB"/>
                </a:solidFill>
                <a:latin typeface="Calibri"/>
                <a:cs typeface="Calibri"/>
              </a:rPr>
              <a:t>AI.</a:t>
            </a:r>
            <a:r>
              <a:rPr dirty="0" sz="3600" spc="-125" b="1" i="1">
                <a:solidFill>
                  <a:srgbClr val="C084FB"/>
                </a:solidFill>
                <a:latin typeface="Calibri"/>
                <a:cs typeface="Calibri"/>
              </a:rPr>
              <a:t> </a:t>
            </a:r>
            <a:r>
              <a:rPr dirty="0" sz="3600" spc="-30" b="1" i="1">
                <a:solidFill>
                  <a:srgbClr val="C084FB"/>
                </a:solidFill>
                <a:latin typeface="Calibri"/>
                <a:cs typeface="Calibri"/>
              </a:rPr>
              <a:t>Your</a:t>
            </a:r>
            <a:r>
              <a:rPr dirty="0" sz="3600" spc="-55" b="1" i="1">
                <a:solidFill>
                  <a:srgbClr val="C084FB"/>
                </a:solidFill>
                <a:latin typeface="Calibri"/>
                <a:cs typeface="Calibri"/>
              </a:rPr>
              <a:t> </a:t>
            </a:r>
            <a:r>
              <a:rPr dirty="0" sz="3600" b="1" i="1">
                <a:solidFill>
                  <a:srgbClr val="C084FB"/>
                </a:solidFill>
                <a:latin typeface="Calibri"/>
                <a:cs typeface="Calibri"/>
              </a:rPr>
              <a:t>Phone.</a:t>
            </a:r>
            <a:r>
              <a:rPr dirty="0" sz="3600" spc="-70" b="1" i="1">
                <a:solidFill>
                  <a:srgbClr val="C084FB"/>
                </a:solidFill>
                <a:latin typeface="Calibri"/>
                <a:cs typeface="Calibri"/>
              </a:rPr>
              <a:t> </a:t>
            </a:r>
            <a:r>
              <a:rPr dirty="0" sz="3600" spc="-55" b="1" i="1">
                <a:solidFill>
                  <a:srgbClr val="C084FB"/>
                </a:solidFill>
                <a:latin typeface="Calibri"/>
                <a:cs typeface="Calibri"/>
              </a:rPr>
              <a:t>Your</a:t>
            </a:r>
            <a:r>
              <a:rPr dirty="0" sz="3600" spc="-130" b="1" i="1">
                <a:solidFill>
                  <a:srgbClr val="C084FB"/>
                </a:solidFill>
                <a:latin typeface="Calibri"/>
                <a:cs typeface="Calibri"/>
              </a:rPr>
              <a:t> </a:t>
            </a:r>
            <a:r>
              <a:rPr dirty="0" sz="3600" b="1" i="1">
                <a:solidFill>
                  <a:srgbClr val="C084FB"/>
                </a:solidFill>
                <a:latin typeface="Calibri"/>
                <a:cs typeface="Calibri"/>
              </a:rPr>
              <a:t>Data.</a:t>
            </a:r>
            <a:r>
              <a:rPr dirty="0" sz="3600" spc="-130" b="1" i="1">
                <a:solidFill>
                  <a:srgbClr val="C084FB"/>
                </a:solidFill>
                <a:latin typeface="Calibri"/>
                <a:cs typeface="Calibri"/>
              </a:rPr>
              <a:t> </a:t>
            </a:r>
            <a:r>
              <a:rPr dirty="0" sz="3600" b="1" i="1">
                <a:solidFill>
                  <a:srgbClr val="C084FB"/>
                </a:solidFill>
                <a:latin typeface="Calibri"/>
                <a:cs typeface="Calibri"/>
              </a:rPr>
              <a:t>Nobody</a:t>
            </a:r>
            <a:r>
              <a:rPr dirty="0" sz="3600" spc="-110" b="1" i="1">
                <a:solidFill>
                  <a:srgbClr val="C084FB"/>
                </a:solidFill>
                <a:latin typeface="Calibri"/>
                <a:cs typeface="Calibri"/>
              </a:rPr>
              <a:t> </a:t>
            </a:r>
            <a:r>
              <a:rPr dirty="0" sz="3600" spc="-10" b="1" i="1">
                <a:solidFill>
                  <a:srgbClr val="C084FB"/>
                </a:solidFill>
                <a:latin typeface="Calibri"/>
                <a:cs typeface="Calibri"/>
              </a:rPr>
              <a:t>Else's.</a:t>
            </a:r>
            <a:endParaRPr sz="3600">
              <a:latin typeface="Calibri"/>
              <a:cs typeface="Calibri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1475" y="3447986"/>
            <a:ext cx="1309624" cy="1071562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01075" y="3447986"/>
            <a:ext cx="1309624" cy="1071562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57200" y="5886386"/>
            <a:ext cx="1309624" cy="1071562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1385824" y="3420858"/>
            <a:ext cx="6993255" cy="4216400"/>
          </a:xfrm>
          <a:prstGeom prst="rect">
            <a:avLst/>
          </a:prstGeom>
        </p:spPr>
        <p:txBody>
          <a:bodyPr wrap="square" lIns="0" tIns="207010" rIns="0" bIns="0" rtlCol="0" vert="horz">
            <a:spAutoFit/>
          </a:bodyPr>
          <a:lstStyle/>
          <a:p>
            <a:pPr algn="just" marL="184785">
              <a:lnSpc>
                <a:spcPct val="100000"/>
              </a:lnSpc>
              <a:spcBef>
                <a:spcPts val="1630"/>
              </a:spcBef>
            </a:pPr>
            <a:r>
              <a:rPr dirty="0" sz="3600" spc="-20" b="1">
                <a:solidFill>
                  <a:srgbClr val="C084FB"/>
                </a:solidFill>
                <a:latin typeface="Calibri"/>
                <a:cs typeface="Calibri"/>
              </a:rPr>
              <a:t>On-</a:t>
            </a:r>
            <a:r>
              <a:rPr dirty="0" sz="3600" b="1">
                <a:solidFill>
                  <a:srgbClr val="C084FB"/>
                </a:solidFill>
                <a:latin typeface="Calibri"/>
                <a:cs typeface="Calibri"/>
              </a:rPr>
              <a:t>Device</a:t>
            </a:r>
            <a:r>
              <a:rPr dirty="0" sz="3600" spc="-80" b="1">
                <a:solidFill>
                  <a:srgbClr val="C084FB"/>
                </a:solidFill>
                <a:latin typeface="Calibri"/>
                <a:cs typeface="Calibri"/>
              </a:rPr>
              <a:t> </a:t>
            </a:r>
            <a:r>
              <a:rPr dirty="0" sz="3600" spc="-25" b="1">
                <a:solidFill>
                  <a:srgbClr val="C084FB"/>
                </a:solidFill>
                <a:latin typeface="Calibri"/>
                <a:cs typeface="Calibri"/>
              </a:rPr>
              <a:t>SLM</a:t>
            </a:r>
            <a:endParaRPr sz="3600">
              <a:latin typeface="Calibri"/>
              <a:cs typeface="Calibri"/>
            </a:endParaRPr>
          </a:p>
          <a:p>
            <a:pPr algn="just" marL="12700" marR="656590">
              <a:lnSpc>
                <a:spcPct val="102400"/>
              </a:lnSpc>
              <a:spcBef>
                <a:spcPts val="1125"/>
              </a:spcBef>
            </a:pP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Lightweight</a:t>
            </a:r>
            <a:r>
              <a:rPr dirty="0" sz="2750" spc="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quantized</a:t>
            </a:r>
            <a:r>
              <a:rPr dirty="0" sz="2750" spc="1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language</a:t>
            </a:r>
            <a:r>
              <a:rPr dirty="0" sz="2750" spc="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r>
              <a:rPr dirty="0" sz="2750" spc="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 spc="-10">
                <a:solidFill>
                  <a:srgbClr val="FFFFFF"/>
                </a:solidFill>
                <a:latin typeface="Calibri"/>
                <a:cs typeface="Calibri"/>
              </a:rPr>
              <a:t>(Phi-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r>
              <a:rPr dirty="0" sz="2750" spc="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Mini)</a:t>
            </a:r>
            <a:r>
              <a:rPr dirty="0" sz="2750" spc="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running</a:t>
            </a:r>
            <a:r>
              <a:rPr dirty="0" sz="2750" spc="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fully</a:t>
            </a:r>
            <a:r>
              <a:rPr dirty="0" sz="2750" spc="1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dirty="0" sz="2750" spc="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mobile</a:t>
            </a:r>
            <a:r>
              <a:rPr dirty="0" sz="2750" spc="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—</a:t>
            </a:r>
            <a:r>
              <a:rPr dirty="0" sz="2750" spc="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no</a:t>
            </a:r>
            <a:r>
              <a:rPr dirty="0" sz="2750" spc="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 spc="-10">
                <a:solidFill>
                  <a:srgbClr val="FFFFFF"/>
                </a:solidFill>
                <a:latin typeface="Calibri"/>
                <a:cs typeface="Calibri"/>
              </a:rPr>
              <a:t>server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calls</a:t>
            </a:r>
            <a:r>
              <a:rPr dirty="0" sz="2750" spc="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dirty="0" sz="275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AI</a:t>
            </a:r>
            <a:r>
              <a:rPr dirty="0" sz="2750" spc="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 spc="-10">
                <a:solidFill>
                  <a:srgbClr val="FFFFFF"/>
                </a:solidFill>
                <a:latin typeface="Calibri"/>
                <a:cs typeface="Calibri"/>
              </a:rPr>
              <a:t>inference.</a:t>
            </a:r>
            <a:endParaRPr sz="27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2750">
              <a:latin typeface="Calibri"/>
              <a:cs typeface="Calibri"/>
            </a:endParaRPr>
          </a:p>
          <a:p>
            <a:pPr algn="just" marL="184785">
              <a:lnSpc>
                <a:spcPct val="100000"/>
              </a:lnSpc>
            </a:pPr>
            <a:r>
              <a:rPr dirty="0" sz="3600" b="1">
                <a:solidFill>
                  <a:srgbClr val="C084FB"/>
                </a:solidFill>
                <a:latin typeface="Calibri"/>
                <a:cs typeface="Calibri"/>
              </a:rPr>
              <a:t>Privacy</a:t>
            </a:r>
            <a:r>
              <a:rPr dirty="0" sz="3600" spc="-50" b="1">
                <a:solidFill>
                  <a:srgbClr val="C084FB"/>
                </a:solidFill>
                <a:latin typeface="Calibri"/>
                <a:cs typeface="Calibri"/>
              </a:rPr>
              <a:t> </a:t>
            </a:r>
            <a:r>
              <a:rPr dirty="0" sz="3600" spc="-10" b="1">
                <a:solidFill>
                  <a:srgbClr val="C084FB"/>
                </a:solidFill>
                <a:latin typeface="Calibri"/>
                <a:cs typeface="Calibri"/>
              </a:rPr>
              <a:t>Vault</a:t>
            </a:r>
            <a:endParaRPr sz="3600">
              <a:latin typeface="Calibri"/>
              <a:cs typeface="Calibri"/>
            </a:endParaRPr>
          </a:p>
          <a:p>
            <a:pPr marL="12700" marR="5080">
              <a:lnSpc>
                <a:spcPct val="102400"/>
              </a:lnSpc>
              <a:spcBef>
                <a:spcPts val="1125"/>
              </a:spcBef>
            </a:pP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AES-256</a:t>
            </a:r>
            <a:r>
              <a:rPr dirty="0" sz="2750" spc="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encrypted</a:t>
            </a:r>
            <a:r>
              <a:rPr dirty="0" sz="2750" spc="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local</a:t>
            </a:r>
            <a:r>
              <a:rPr dirty="0" sz="2750" spc="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storage.</a:t>
            </a:r>
            <a:r>
              <a:rPr dirty="0" sz="2750" spc="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User</a:t>
            </a:r>
            <a:r>
              <a:rPr dirty="0" sz="2750" spc="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dirty="0" sz="2750" spc="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 spc="-10">
                <a:solidFill>
                  <a:srgbClr val="FFFFFF"/>
                </a:solidFill>
                <a:latin typeface="Calibri"/>
                <a:cs typeface="Calibri"/>
              </a:rPr>
              <a:t>audit,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edit</a:t>
            </a:r>
            <a:r>
              <a:rPr dirty="0" sz="2750" spc="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dirty="0" sz="2750" spc="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wipe</a:t>
            </a:r>
            <a:r>
              <a:rPr dirty="0" sz="2750" spc="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dirty="0" sz="2750" spc="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personal</a:t>
            </a:r>
            <a:r>
              <a:rPr dirty="0" sz="2750" spc="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context</a:t>
            </a:r>
            <a:r>
              <a:rPr dirty="0" sz="2750" spc="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at</a:t>
            </a:r>
            <a:r>
              <a:rPr dirty="0" sz="2750" spc="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any</a:t>
            </a:r>
            <a:r>
              <a:rPr dirty="0" sz="2750" spc="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 spc="-10">
                <a:solidFill>
                  <a:srgbClr val="FFFFFF"/>
                </a:solidFill>
                <a:latin typeface="Calibri"/>
                <a:cs typeface="Calibri"/>
              </a:rPr>
              <a:t>time.</a:t>
            </a:r>
            <a:endParaRPr sz="2750">
              <a:latin typeface="Calibri"/>
              <a:cs typeface="Calibri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753475" y="5886386"/>
            <a:ext cx="1309624" cy="1071562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9776841" y="3476813"/>
            <a:ext cx="6909434" cy="4145915"/>
          </a:xfrm>
          <a:prstGeom prst="rect">
            <a:avLst/>
          </a:prstGeom>
        </p:spPr>
        <p:txBody>
          <a:bodyPr wrap="square" lIns="0" tIns="175260" rIns="0" bIns="0" rtlCol="0" vert="horz">
            <a:spAutoFit/>
          </a:bodyPr>
          <a:lstStyle/>
          <a:p>
            <a:pPr marL="45085">
              <a:lnSpc>
                <a:spcPct val="100000"/>
              </a:lnSpc>
              <a:spcBef>
                <a:spcPts val="1380"/>
              </a:spcBef>
            </a:pPr>
            <a:r>
              <a:rPr dirty="0" sz="3600" b="1">
                <a:solidFill>
                  <a:srgbClr val="C084FB"/>
                </a:solidFill>
                <a:latin typeface="Calibri"/>
                <a:cs typeface="Calibri"/>
              </a:rPr>
              <a:t>Adaptive</a:t>
            </a:r>
            <a:r>
              <a:rPr dirty="0" sz="3600" spc="-185" b="1">
                <a:solidFill>
                  <a:srgbClr val="C084FB"/>
                </a:solidFill>
                <a:latin typeface="Calibri"/>
                <a:cs typeface="Calibri"/>
              </a:rPr>
              <a:t> </a:t>
            </a:r>
            <a:r>
              <a:rPr dirty="0" sz="3600" spc="-10" b="1">
                <a:solidFill>
                  <a:srgbClr val="C084FB"/>
                </a:solidFill>
                <a:latin typeface="Calibri"/>
                <a:cs typeface="Calibri"/>
              </a:rPr>
              <a:t>Learning</a:t>
            </a:r>
            <a:endParaRPr sz="3600">
              <a:latin typeface="Calibri"/>
              <a:cs typeface="Calibri"/>
            </a:endParaRPr>
          </a:p>
          <a:p>
            <a:pPr marL="12700" marR="293370">
              <a:lnSpc>
                <a:spcPct val="102400"/>
              </a:lnSpc>
              <a:spcBef>
                <a:spcPts val="935"/>
              </a:spcBef>
            </a:pP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Locally</a:t>
            </a:r>
            <a:r>
              <a:rPr dirty="0" sz="2750" spc="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fine-tunes</a:t>
            </a:r>
            <a:r>
              <a:rPr dirty="0" sz="2750" spc="1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dirty="0" sz="2750" spc="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your</a:t>
            </a:r>
            <a:r>
              <a:rPr dirty="0" sz="2750" spc="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behavioral</a:t>
            </a:r>
            <a:r>
              <a:rPr dirty="0" sz="2750" spc="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 spc="-10">
                <a:solidFill>
                  <a:srgbClr val="FFFFFF"/>
                </a:solidFill>
                <a:latin typeface="Calibri"/>
                <a:cs typeface="Calibri"/>
              </a:rPr>
              <a:t>patterns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using</a:t>
            </a:r>
            <a:r>
              <a:rPr dirty="0" sz="2750" spc="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LoRA</a:t>
            </a:r>
            <a:r>
              <a:rPr dirty="0" sz="2750" spc="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adapters.</a:t>
            </a:r>
            <a:r>
              <a:rPr dirty="0" sz="2750" spc="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Gets</a:t>
            </a:r>
            <a:r>
              <a:rPr dirty="0" sz="2750" spc="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smarter</a:t>
            </a:r>
            <a:r>
              <a:rPr dirty="0" sz="2750" spc="1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 spc="-10">
                <a:solidFill>
                  <a:srgbClr val="FFFFFF"/>
                </a:solidFill>
                <a:latin typeface="Calibri"/>
                <a:cs typeface="Calibri"/>
              </a:rPr>
              <a:t>without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sharing</a:t>
            </a:r>
            <a:r>
              <a:rPr dirty="0" sz="2750" spc="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any</a:t>
            </a:r>
            <a:r>
              <a:rPr dirty="0" sz="2750" spc="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 spc="-20">
                <a:solidFill>
                  <a:srgbClr val="FFFFFF"/>
                </a:solidFill>
                <a:latin typeface="Calibri"/>
                <a:cs typeface="Calibri"/>
              </a:rPr>
              <a:t>data.</a:t>
            </a:r>
            <a:endParaRPr sz="27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90"/>
              </a:spcBef>
            </a:pPr>
            <a:endParaRPr sz="2750">
              <a:latin typeface="Calibri"/>
              <a:cs typeface="Calibri"/>
            </a:endParaRPr>
          </a:p>
          <a:p>
            <a:pPr marL="42545">
              <a:lnSpc>
                <a:spcPct val="100000"/>
              </a:lnSpc>
            </a:pPr>
            <a:r>
              <a:rPr dirty="0" sz="3600" spc="-10" b="1">
                <a:solidFill>
                  <a:srgbClr val="C084FB"/>
                </a:solidFill>
                <a:latin typeface="Calibri"/>
                <a:cs typeface="Calibri"/>
              </a:rPr>
              <a:t>Offline-</a:t>
            </a:r>
            <a:r>
              <a:rPr dirty="0" sz="3600" spc="-20" b="1">
                <a:solidFill>
                  <a:srgbClr val="C084FB"/>
                </a:solidFill>
                <a:latin typeface="Calibri"/>
                <a:cs typeface="Calibri"/>
              </a:rPr>
              <a:t>First</a:t>
            </a:r>
            <a:endParaRPr sz="3600">
              <a:latin typeface="Calibri"/>
              <a:cs typeface="Calibri"/>
            </a:endParaRPr>
          </a:p>
          <a:p>
            <a:pPr marL="15875" marR="5080">
              <a:lnSpc>
                <a:spcPct val="102299"/>
              </a:lnSpc>
              <a:spcBef>
                <a:spcPts val="1045"/>
              </a:spcBef>
            </a:pP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Full</a:t>
            </a:r>
            <a:r>
              <a:rPr dirty="0" sz="2750" spc="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functionality</a:t>
            </a:r>
            <a:r>
              <a:rPr dirty="0" sz="275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dirty="0" sz="2750" spc="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zero</a:t>
            </a:r>
            <a:r>
              <a:rPr dirty="0" sz="2750" spc="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connectivity.</a:t>
            </a:r>
            <a:r>
              <a:rPr dirty="0" sz="2750" spc="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dirty="0" sz="2750" spc="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 spc="-20">
                <a:solidFill>
                  <a:srgbClr val="FFFFFF"/>
                </a:solidFill>
                <a:latin typeface="Calibri"/>
                <a:cs typeface="Calibri"/>
              </a:rPr>
              <a:t>core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AI</a:t>
            </a:r>
            <a:r>
              <a:rPr dirty="0" sz="2750" spc="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features</a:t>
            </a:r>
            <a:r>
              <a:rPr dirty="0" sz="2750" spc="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work</a:t>
            </a:r>
            <a:r>
              <a:rPr dirty="0" sz="2750" spc="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even</a:t>
            </a:r>
            <a:r>
              <a:rPr dirty="0" sz="2750" spc="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dirty="0" sz="2750" spc="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airplane</a:t>
            </a:r>
            <a:r>
              <a:rPr dirty="0" sz="2750" spc="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 spc="-10">
                <a:solidFill>
                  <a:srgbClr val="FFFFFF"/>
                </a:solidFill>
                <a:latin typeface="Calibri"/>
                <a:cs typeface="Calibri"/>
              </a:rPr>
              <a:t>mode.</a:t>
            </a:r>
            <a:endParaRPr sz="27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934210" y="2165349"/>
            <a:ext cx="1587500" cy="632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950" spc="-10" b="1">
                <a:solidFill>
                  <a:srgbClr val="FFFFFF"/>
                </a:solidFill>
                <a:latin typeface="Calibri"/>
                <a:cs typeface="Calibri"/>
              </a:rPr>
              <a:t>INPUTS</a:t>
            </a:r>
            <a:endParaRPr sz="395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249680" y="3376612"/>
            <a:ext cx="3133725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FFFFFF"/>
                </a:solidFill>
                <a:latin typeface="Calibri"/>
                <a:cs typeface="Calibri"/>
              </a:rPr>
              <a:t>User</a:t>
            </a:r>
            <a:r>
              <a:rPr dirty="0" sz="3600" spc="-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600" spc="-10">
                <a:solidFill>
                  <a:srgbClr val="FFFFFF"/>
                </a:solidFill>
                <a:latin typeface="Calibri"/>
                <a:cs typeface="Calibri"/>
              </a:rPr>
              <a:t>Voice</a:t>
            </a:r>
            <a:r>
              <a:rPr dirty="0" sz="3600" spc="-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600">
                <a:solidFill>
                  <a:srgbClr val="FFFFFF"/>
                </a:solidFill>
                <a:latin typeface="Calibri"/>
                <a:cs typeface="Calibri"/>
              </a:rPr>
              <a:t>/</a:t>
            </a:r>
            <a:r>
              <a:rPr dirty="0" sz="36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600" spc="-60">
                <a:solidFill>
                  <a:srgbClr val="FFFFFF"/>
                </a:solidFill>
                <a:latin typeface="Calibri"/>
                <a:cs typeface="Calibri"/>
              </a:rPr>
              <a:t>Text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330960" y="4645025"/>
            <a:ext cx="2795270" cy="575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600">
                <a:solidFill>
                  <a:srgbClr val="FFFFFF"/>
                </a:solidFill>
                <a:latin typeface="Calibri"/>
                <a:cs typeface="Calibri"/>
              </a:rPr>
              <a:t>Usage</a:t>
            </a:r>
            <a:r>
              <a:rPr dirty="0" sz="36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600" spc="-25">
                <a:solidFill>
                  <a:srgbClr val="FFFFFF"/>
                </a:solidFill>
                <a:latin typeface="Calibri"/>
                <a:cs typeface="Calibri"/>
              </a:rPr>
              <a:t>Patterns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417319" y="6091872"/>
            <a:ext cx="3084195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FFFFFF"/>
                </a:solidFill>
                <a:latin typeface="Calibri"/>
                <a:cs typeface="Calibri"/>
              </a:rPr>
              <a:t>App</a:t>
            </a:r>
            <a:r>
              <a:rPr dirty="0" sz="36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600" spc="-10">
                <a:solidFill>
                  <a:srgbClr val="FFFFFF"/>
                </a:solidFill>
                <a:latin typeface="Calibri"/>
                <a:cs typeface="Calibri"/>
              </a:rPr>
              <a:t>Interactions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309369" y="7227189"/>
            <a:ext cx="2842895" cy="575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600" spc="-10">
                <a:solidFill>
                  <a:srgbClr val="FFFFFF"/>
                </a:solidFill>
                <a:latin typeface="Calibri"/>
                <a:cs typeface="Calibri"/>
              </a:rPr>
              <a:t>Context</a:t>
            </a:r>
            <a:r>
              <a:rPr dirty="0" sz="3600" spc="-1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600" spc="-10">
                <a:solidFill>
                  <a:srgbClr val="FFFFFF"/>
                </a:solidFill>
                <a:latin typeface="Calibri"/>
                <a:cs typeface="Calibri"/>
              </a:rPr>
              <a:t>Signals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105146" y="4111307"/>
            <a:ext cx="1130300" cy="1489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600" spc="-50">
                <a:solidFill>
                  <a:srgbClr val="A854F7"/>
                </a:solidFill>
                <a:latin typeface="Calibri"/>
                <a:cs typeface="Calibri"/>
              </a:rPr>
              <a:t>→</a:t>
            </a:r>
            <a:endParaRPr sz="96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931153" y="423418"/>
            <a:ext cx="5087620" cy="374205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30555" marR="5080" indent="-618490">
              <a:lnSpc>
                <a:spcPct val="140300"/>
              </a:lnSpc>
              <a:spcBef>
                <a:spcPts val="95"/>
              </a:spcBef>
            </a:pPr>
            <a:r>
              <a:rPr dirty="0" sz="3300" spc="-10">
                <a:solidFill>
                  <a:srgbClr val="FFFFFF"/>
                </a:solidFill>
                <a:latin typeface="Arial MT"/>
                <a:cs typeface="Arial MT"/>
              </a:rPr>
              <a:t>System</a:t>
            </a:r>
            <a:r>
              <a:rPr dirty="0" sz="3300" spc="-229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300" spc="-10">
                <a:solidFill>
                  <a:srgbClr val="FFFFFF"/>
                </a:solidFill>
                <a:latin typeface="Arial MT"/>
                <a:cs typeface="Arial MT"/>
              </a:rPr>
              <a:t>Architecture</a:t>
            </a:r>
            <a:r>
              <a:rPr dirty="0" sz="330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30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dirty="0" sz="3300" spc="-1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300" spc="-10">
                <a:solidFill>
                  <a:srgbClr val="FFFFFF"/>
                </a:solidFill>
                <a:latin typeface="Arial MT"/>
                <a:cs typeface="Arial MT"/>
              </a:rPr>
              <a:t>Block Diagram</a:t>
            </a:r>
            <a:endParaRPr sz="3300">
              <a:latin typeface="Arial MT"/>
              <a:cs typeface="Arial MT"/>
            </a:endParaRPr>
          </a:p>
          <a:p>
            <a:pPr algn="ctr" marL="1171575" marR="1231900" indent="4445">
              <a:lnSpc>
                <a:spcPct val="101400"/>
              </a:lnSpc>
              <a:spcBef>
                <a:spcPts val="204"/>
              </a:spcBef>
            </a:pPr>
            <a:r>
              <a:rPr dirty="0" sz="3950" b="1">
                <a:solidFill>
                  <a:srgbClr val="FFFFFF"/>
                </a:solidFill>
                <a:latin typeface="Calibri"/>
                <a:cs typeface="Calibri"/>
              </a:rPr>
              <a:t>ON-</a:t>
            </a:r>
            <a:r>
              <a:rPr dirty="0" sz="3950" spc="-10" b="1">
                <a:solidFill>
                  <a:srgbClr val="FFFFFF"/>
                </a:solidFill>
                <a:latin typeface="Calibri"/>
                <a:cs typeface="Calibri"/>
              </a:rPr>
              <a:t>DEVICE PROCESSING</a:t>
            </a:r>
            <a:endParaRPr sz="3950">
              <a:latin typeface="Calibri"/>
              <a:cs typeface="Calibri"/>
            </a:endParaRPr>
          </a:p>
          <a:p>
            <a:pPr algn="ctr" marR="175260">
              <a:lnSpc>
                <a:spcPts val="3795"/>
              </a:lnSpc>
              <a:spcBef>
                <a:spcPts val="2430"/>
              </a:spcBef>
            </a:pPr>
            <a:r>
              <a:rPr dirty="0" sz="3200" spc="-10" b="1">
                <a:solidFill>
                  <a:srgbClr val="C084FB"/>
                </a:solidFill>
                <a:latin typeface="Calibri"/>
                <a:cs typeface="Calibri"/>
              </a:rPr>
              <a:t>Phi-</a:t>
            </a:r>
            <a:r>
              <a:rPr dirty="0" sz="3200" b="1">
                <a:solidFill>
                  <a:srgbClr val="C084FB"/>
                </a:solidFill>
                <a:latin typeface="Calibri"/>
                <a:cs typeface="Calibri"/>
              </a:rPr>
              <a:t>3</a:t>
            </a:r>
            <a:r>
              <a:rPr dirty="0" sz="3200" spc="-50" b="1">
                <a:solidFill>
                  <a:srgbClr val="C084FB"/>
                </a:solidFill>
                <a:latin typeface="Calibri"/>
                <a:cs typeface="Calibri"/>
              </a:rPr>
              <a:t> </a:t>
            </a:r>
            <a:r>
              <a:rPr dirty="0" sz="3200" b="1">
                <a:solidFill>
                  <a:srgbClr val="C084FB"/>
                </a:solidFill>
                <a:latin typeface="Calibri"/>
                <a:cs typeface="Calibri"/>
              </a:rPr>
              <a:t>Mini</a:t>
            </a:r>
            <a:r>
              <a:rPr dirty="0" sz="3200" spc="-35" b="1">
                <a:solidFill>
                  <a:srgbClr val="C084FB"/>
                </a:solidFill>
                <a:latin typeface="Calibri"/>
                <a:cs typeface="Calibri"/>
              </a:rPr>
              <a:t> </a:t>
            </a:r>
            <a:r>
              <a:rPr dirty="0" sz="3200" spc="-20" b="1">
                <a:solidFill>
                  <a:srgbClr val="C084FB"/>
                </a:solidFill>
                <a:latin typeface="Calibri"/>
                <a:cs typeface="Calibri"/>
              </a:rPr>
              <a:t>(SLM)</a:t>
            </a:r>
            <a:endParaRPr sz="3200">
              <a:latin typeface="Calibri"/>
              <a:cs typeface="Calibri"/>
            </a:endParaRPr>
          </a:p>
          <a:p>
            <a:pPr algn="ctr" marR="160020">
              <a:lnSpc>
                <a:spcPts val="2115"/>
              </a:lnSpc>
            </a:pPr>
            <a:r>
              <a:rPr dirty="0" sz="1800">
                <a:solidFill>
                  <a:srgbClr val="9F9FC0"/>
                </a:solidFill>
                <a:latin typeface="Calibri"/>
                <a:cs typeface="Calibri"/>
              </a:rPr>
              <a:t>Local</a:t>
            </a:r>
            <a:r>
              <a:rPr dirty="0" sz="1800" spc="-45">
                <a:solidFill>
                  <a:srgbClr val="9F9FC0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9F9FC0"/>
                </a:solidFill>
                <a:latin typeface="Calibri"/>
                <a:cs typeface="Calibri"/>
              </a:rPr>
              <a:t>inference</a:t>
            </a:r>
            <a:r>
              <a:rPr dirty="0" sz="1800" spc="-70">
                <a:solidFill>
                  <a:srgbClr val="9F9FC0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9F9FC0"/>
                </a:solidFill>
                <a:latin typeface="Calibri"/>
                <a:cs typeface="Calibri"/>
              </a:rPr>
              <a:t>engine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7254875" y="4539297"/>
            <a:ext cx="2408555" cy="9766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 marR="635">
              <a:lnSpc>
                <a:spcPts val="3210"/>
              </a:lnSpc>
              <a:spcBef>
                <a:spcPts val="125"/>
              </a:spcBef>
            </a:pPr>
            <a:r>
              <a:rPr dirty="0" sz="2750" b="1">
                <a:solidFill>
                  <a:srgbClr val="C084FB"/>
                </a:solidFill>
                <a:latin typeface="Calibri"/>
                <a:cs typeface="Calibri"/>
              </a:rPr>
              <a:t>Behavior</a:t>
            </a:r>
            <a:r>
              <a:rPr dirty="0" sz="2750" spc="70" b="1">
                <a:solidFill>
                  <a:srgbClr val="C084FB"/>
                </a:solidFill>
                <a:latin typeface="Calibri"/>
                <a:cs typeface="Calibri"/>
              </a:rPr>
              <a:t> </a:t>
            </a:r>
            <a:r>
              <a:rPr dirty="0" sz="2750" spc="-10" b="1">
                <a:solidFill>
                  <a:srgbClr val="C084FB"/>
                </a:solidFill>
                <a:latin typeface="Calibri"/>
                <a:cs typeface="Calibri"/>
              </a:rPr>
              <a:t>Engine</a:t>
            </a:r>
            <a:endParaRPr sz="2750">
              <a:latin typeface="Calibri"/>
              <a:cs typeface="Calibri"/>
            </a:endParaRPr>
          </a:p>
          <a:p>
            <a:pPr algn="ctr" marL="31750">
              <a:lnSpc>
                <a:spcPts val="2070"/>
              </a:lnSpc>
            </a:pPr>
            <a:r>
              <a:rPr dirty="0" sz="1800" spc="-10">
                <a:solidFill>
                  <a:srgbClr val="9F9FC0"/>
                </a:solidFill>
                <a:latin typeface="Calibri"/>
                <a:cs typeface="Calibri"/>
              </a:rPr>
              <a:t>Pattern</a:t>
            </a:r>
            <a:r>
              <a:rPr dirty="0" sz="1800" spc="-55">
                <a:solidFill>
                  <a:srgbClr val="9F9FC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9F9FC0"/>
                </a:solidFill>
                <a:latin typeface="Calibri"/>
                <a:cs typeface="Calibri"/>
              </a:rPr>
              <a:t>detection</a:t>
            </a:r>
            <a:r>
              <a:rPr dirty="0" sz="1800" spc="-50">
                <a:solidFill>
                  <a:srgbClr val="9F9FC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9F9FC0"/>
                </a:solidFill>
                <a:latin typeface="Calibri"/>
                <a:cs typeface="Calibri"/>
              </a:rPr>
              <a:t>&amp;</a:t>
            </a:r>
            <a:r>
              <a:rPr dirty="0" sz="1800" spc="-35">
                <a:solidFill>
                  <a:srgbClr val="9F9FC0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9F9FC0"/>
                </a:solidFill>
                <a:latin typeface="Calibri"/>
                <a:cs typeface="Calibri"/>
              </a:rPr>
              <a:t>LoRA</a:t>
            </a:r>
            <a:endParaRPr sz="1800">
              <a:latin typeface="Calibri"/>
              <a:cs typeface="Calibri"/>
            </a:endParaRPr>
          </a:p>
          <a:p>
            <a:pPr algn="ctr" marL="40640">
              <a:lnSpc>
                <a:spcPct val="100000"/>
              </a:lnSpc>
              <a:spcBef>
                <a:spcPts val="20"/>
              </a:spcBef>
            </a:pPr>
            <a:r>
              <a:rPr dirty="0" sz="1800" spc="-10">
                <a:solidFill>
                  <a:srgbClr val="9F9FC0"/>
                </a:solidFill>
                <a:latin typeface="Calibri"/>
                <a:cs typeface="Calibri"/>
              </a:rPr>
              <a:t>fine-tuning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7043419" y="5698566"/>
            <a:ext cx="2526030" cy="1165860"/>
          </a:xfrm>
          <a:prstGeom prst="rect">
            <a:avLst/>
          </a:prstGeom>
        </p:spPr>
        <p:txBody>
          <a:bodyPr wrap="square" lIns="0" tIns="116839" rIns="0" bIns="0" rtlCol="0" vert="horz">
            <a:spAutoFit/>
          </a:bodyPr>
          <a:lstStyle/>
          <a:p>
            <a:pPr marL="443865">
              <a:lnSpc>
                <a:spcPct val="100000"/>
              </a:lnSpc>
              <a:spcBef>
                <a:spcPts val="919"/>
              </a:spcBef>
            </a:pPr>
            <a:r>
              <a:rPr dirty="0" sz="2750" b="1">
                <a:solidFill>
                  <a:srgbClr val="C084FB"/>
                </a:solidFill>
                <a:latin typeface="Calibri"/>
                <a:cs typeface="Calibri"/>
              </a:rPr>
              <a:t>Privacy</a:t>
            </a:r>
            <a:r>
              <a:rPr dirty="0" sz="2750" spc="90" b="1">
                <a:solidFill>
                  <a:srgbClr val="C084FB"/>
                </a:solidFill>
                <a:latin typeface="Calibri"/>
                <a:cs typeface="Calibri"/>
              </a:rPr>
              <a:t> </a:t>
            </a:r>
            <a:r>
              <a:rPr dirty="0" sz="2750" spc="-20" b="1">
                <a:solidFill>
                  <a:srgbClr val="C084FB"/>
                </a:solidFill>
                <a:latin typeface="Calibri"/>
                <a:cs typeface="Calibri"/>
              </a:rPr>
              <a:t>Vault</a:t>
            </a:r>
            <a:endParaRPr sz="2750">
              <a:latin typeface="Calibri"/>
              <a:cs typeface="Calibri"/>
            </a:endParaRPr>
          </a:p>
          <a:p>
            <a:pPr marL="1133475" marR="5080" indent="-1120775">
              <a:lnSpc>
                <a:spcPct val="100800"/>
              </a:lnSpc>
              <a:spcBef>
                <a:spcPts val="505"/>
              </a:spcBef>
            </a:pPr>
            <a:r>
              <a:rPr dirty="0" sz="1800" spc="-10">
                <a:solidFill>
                  <a:srgbClr val="9F9FC0"/>
                </a:solidFill>
                <a:latin typeface="Calibri"/>
                <a:cs typeface="Calibri"/>
              </a:rPr>
              <a:t>AES-</a:t>
            </a:r>
            <a:r>
              <a:rPr dirty="0" sz="1800">
                <a:solidFill>
                  <a:srgbClr val="9F9FC0"/>
                </a:solidFill>
                <a:latin typeface="Calibri"/>
                <a:cs typeface="Calibri"/>
              </a:rPr>
              <a:t>256</a:t>
            </a:r>
            <a:r>
              <a:rPr dirty="0" sz="1800" spc="-65">
                <a:solidFill>
                  <a:srgbClr val="9F9FC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9F9FC0"/>
                </a:solidFill>
                <a:latin typeface="Calibri"/>
                <a:cs typeface="Calibri"/>
              </a:rPr>
              <a:t>encrypted</a:t>
            </a:r>
            <a:r>
              <a:rPr dirty="0" sz="1800" spc="-25">
                <a:solidFill>
                  <a:srgbClr val="9F9FC0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9F9FC0"/>
                </a:solidFill>
                <a:latin typeface="Calibri"/>
                <a:cs typeface="Calibri"/>
              </a:rPr>
              <a:t>context </a:t>
            </a:r>
            <a:r>
              <a:rPr dirty="0" sz="1800" spc="-25">
                <a:solidFill>
                  <a:srgbClr val="9F9FC0"/>
                </a:solidFill>
                <a:latin typeface="Calibri"/>
                <a:cs typeface="Calibri"/>
              </a:rPr>
              <a:t>DB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7056755" y="7173531"/>
            <a:ext cx="2590800" cy="666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88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C084FB"/>
                </a:solidFill>
                <a:latin typeface="Calibri"/>
                <a:cs typeface="Calibri"/>
              </a:rPr>
              <a:t>Response</a:t>
            </a:r>
            <a:r>
              <a:rPr dirty="0" sz="2400" spc="-60" b="1">
                <a:solidFill>
                  <a:srgbClr val="C084FB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084FB"/>
                </a:solidFill>
                <a:latin typeface="Calibri"/>
                <a:cs typeface="Calibri"/>
              </a:rPr>
              <a:t>Generator</a:t>
            </a:r>
            <a:endParaRPr sz="2400">
              <a:latin typeface="Calibri"/>
              <a:cs typeface="Calibri"/>
            </a:endParaRPr>
          </a:p>
          <a:p>
            <a:pPr marL="116839">
              <a:lnSpc>
                <a:spcPts val="2160"/>
              </a:lnSpc>
            </a:pPr>
            <a:r>
              <a:rPr dirty="0" sz="1800" spc="-10">
                <a:solidFill>
                  <a:srgbClr val="9F9FC0"/>
                </a:solidFill>
                <a:latin typeface="Calibri"/>
                <a:cs typeface="Calibri"/>
              </a:rPr>
              <a:t>Personalized</a:t>
            </a:r>
            <a:r>
              <a:rPr dirty="0" sz="1800" spc="-65">
                <a:solidFill>
                  <a:srgbClr val="9F9FC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9F9FC0"/>
                </a:solidFill>
                <a:latin typeface="Calibri"/>
                <a:cs typeface="Calibri"/>
              </a:rPr>
              <a:t>output</a:t>
            </a:r>
            <a:r>
              <a:rPr dirty="0" sz="1800" spc="-90">
                <a:solidFill>
                  <a:srgbClr val="9F9FC0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9F9FC0"/>
                </a:solidFill>
                <a:latin typeface="Calibri"/>
                <a:cs typeface="Calibri"/>
              </a:rPr>
              <a:t>layer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1358244" y="4128389"/>
            <a:ext cx="1130300" cy="1490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600" spc="-50">
                <a:solidFill>
                  <a:srgbClr val="A854F7"/>
                </a:solidFill>
                <a:latin typeface="Calibri"/>
                <a:cs typeface="Calibri"/>
              </a:rPr>
              <a:t>→</a:t>
            </a:r>
            <a:endParaRPr sz="96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4314805" y="2143823"/>
            <a:ext cx="2035175" cy="198056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dirty="0" sz="3950" spc="-10" b="1">
                <a:solidFill>
                  <a:srgbClr val="FFFFFF"/>
                </a:solidFill>
                <a:latin typeface="Calibri"/>
                <a:cs typeface="Calibri"/>
              </a:rPr>
              <a:t>OUTPUTS</a:t>
            </a:r>
            <a:endParaRPr sz="3950">
              <a:latin typeface="Calibri"/>
              <a:cs typeface="Calibri"/>
            </a:endParaRPr>
          </a:p>
          <a:p>
            <a:pPr algn="ctr" marL="113664" marR="97790">
              <a:lnSpc>
                <a:spcPct val="102400"/>
              </a:lnSpc>
              <a:spcBef>
                <a:spcPts val="3865"/>
              </a:spcBef>
            </a:pPr>
            <a:r>
              <a:rPr dirty="0" sz="2750" spc="-10">
                <a:solidFill>
                  <a:srgbClr val="FFFFFF"/>
                </a:solidFill>
                <a:latin typeface="Calibri"/>
                <a:cs typeface="Calibri"/>
              </a:rPr>
              <a:t>Personalized Responses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4553818" y="4542091"/>
            <a:ext cx="1562100" cy="878205"/>
          </a:xfrm>
          <a:prstGeom prst="rect">
            <a:avLst/>
          </a:prstGeom>
        </p:spPr>
        <p:txBody>
          <a:bodyPr wrap="square" lIns="0" tIns="5715" rIns="0" bIns="0" rtlCol="0" vert="horz">
            <a:spAutoFit/>
          </a:bodyPr>
          <a:lstStyle/>
          <a:p>
            <a:pPr marL="12700" marR="5080" indent="338455">
              <a:lnSpc>
                <a:spcPct val="102400"/>
              </a:lnSpc>
              <a:spcBef>
                <a:spcPts val="45"/>
              </a:spcBef>
            </a:pPr>
            <a:r>
              <a:rPr dirty="0" sz="2750" spc="-10">
                <a:solidFill>
                  <a:srgbClr val="FFFFFF"/>
                </a:solidFill>
                <a:latin typeface="Calibri"/>
                <a:cs typeface="Calibri"/>
              </a:rPr>
              <a:t>Smart Reminders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4338935" y="6016053"/>
            <a:ext cx="1990089" cy="4489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Habit</a:t>
            </a:r>
            <a:r>
              <a:rPr dirty="0" sz="2750" spc="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 spc="-10">
                <a:solidFill>
                  <a:srgbClr val="FFFFFF"/>
                </a:solidFill>
                <a:latin typeface="Calibri"/>
                <a:cs typeface="Calibri"/>
              </a:rPr>
              <a:t>Insights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4276451" y="7302563"/>
            <a:ext cx="2112645" cy="4489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Offline</a:t>
            </a:r>
            <a:r>
              <a:rPr dirty="0" sz="2750" spc="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AI</a:t>
            </a:r>
            <a:r>
              <a:rPr dirty="0" sz="2750" spc="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 spc="-20">
                <a:solidFill>
                  <a:srgbClr val="FFFFFF"/>
                </a:solidFill>
                <a:latin typeface="Calibri"/>
                <a:cs typeface="Calibri"/>
              </a:rPr>
              <a:t>Chat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5159121" y="8119046"/>
            <a:ext cx="7653020" cy="4489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738245" algn="l"/>
                <a:tab pos="4071620" algn="l"/>
                <a:tab pos="5586095" algn="l"/>
                <a:tab pos="5918835" algn="l"/>
              </a:tabLst>
            </a:pPr>
            <a:r>
              <a:rPr dirty="0" sz="2750" b="1">
                <a:solidFill>
                  <a:srgbClr val="C084FB"/>
                </a:solidFill>
                <a:latin typeface="Calibri"/>
                <a:cs typeface="Calibri"/>
              </a:rPr>
              <a:t>Zero</a:t>
            </a:r>
            <a:r>
              <a:rPr dirty="0" sz="2750" spc="10" b="1">
                <a:solidFill>
                  <a:srgbClr val="C084FB"/>
                </a:solidFill>
                <a:latin typeface="Calibri"/>
                <a:cs typeface="Calibri"/>
              </a:rPr>
              <a:t> </a:t>
            </a:r>
            <a:r>
              <a:rPr dirty="0" sz="2750" b="1">
                <a:solidFill>
                  <a:srgbClr val="C084FB"/>
                </a:solidFill>
                <a:latin typeface="Calibri"/>
                <a:cs typeface="Calibri"/>
              </a:rPr>
              <a:t>Data</a:t>
            </a:r>
            <a:r>
              <a:rPr dirty="0" sz="2750" spc="60" b="1">
                <a:solidFill>
                  <a:srgbClr val="C084FB"/>
                </a:solidFill>
                <a:latin typeface="Calibri"/>
                <a:cs typeface="Calibri"/>
              </a:rPr>
              <a:t> </a:t>
            </a:r>
            <a:r>
              <a:rPr dirty="0" sz="2750" b="1">
                <a:solidFill>
                  <a:srgbClr val="C084FB"/>
                </a:solidFill>
                <a:latin typeface="Calibri"/>
                <a:cs typeface="Calibri"/>
              </a:rPr>
              <a:t>Leaves</a:t>
            </a:r>
            <a:r>
              <a:rPr dirty="0" sz="2750" spc="20" b="1">
                <a:solidFill>
                  <a:srgbClr val="C084FB"/>
                </a:solidFill>
                <a:latin typeface="Calibri"/>
                <a:cs typeface="Calibri"/>
              </a:rPr>
              <a:t> </a:t>
            </a:r>
            <a:r>
              <a:rPr dirty="0" sz="2750" spc="-10" b="1">
                <a:solidFill>
                  <a:srgbClr val="C084FB"/>
                </a:solidFill>
                <a:latin typeface="Calibri"/>
                <a:cs typeface="Calibri"/>
              </a:rPr>
              <a:t>Device</a:t>
            </a:r>
            <a:r>
              <a:rPr dirty="0" sz="2750" b="1">
                <a:solidFill>
                  <a:srgbClr val="C084FB"/>
                </a:solidFill>
                <a:latin typeface="Calibri"/>
                <a:cs typeface="Calibri"/>
              </a:rPr>
              <a:t>	</a:t>
            </a:r>
            <a:r>
              <a:rPr dirty="0" sz="2750" spc="-50" b="1">
                <a:solidFill>
                  <a:srgbClr val="C084FB"/>
                </a:solidFill>
                <a:latin typeface="Calibri"/>
                <a:cs typeface="Calibri"/>
              </a:rPr>
              <a:t>|</a:t>
            </a:r>
            <a:r>
              <a:rPr dirty="0" sz="2750" b="1">
                <a:solidFill>
                  <a:srgbClr val="C084FB"/>
                </a:solidFill>
                <a:latin typeface="Calibri"/>
                <a:cs typeface="Calibri"/>
              </a:rPr>
              <a:t>	No</a:t>
            </a:r>
            <a:r>
              <a:rPr dirty="0" sz="2750" spc="35" b="1">
                <a:solidFill>
                  <a:srgbClr val="C084FB"/>
                </a:solidFill>
                <a:latin typeface="Calibri"/>
                <a:cs typeface="Calibri"/>
              </a:rPr>
              <a:t> </a:t>
            </a:r>
            <a:r>
              <a:rPr dirty="0" sz="2750" spc="-10" b="1">
                <a:solidFill>
                  <a:srgbClr val="C084FB"/>
                </a:solidFill>
                <a:latin typeface="Calibri"/>
                <a:cs typeface="Calibri"/>
              </a:rPr>
              <a:t>Cloud</a:t>
            </a:r>
            <a:r>
              <a:rPr dirty="0" sz="2750" b="1">
                <a:solidFill>
                  <a:srgbClr val="C084FB"/>
                </a:solidFill>
                <a:latin typeface="Calibri"/>
                <a:cs typeface="Calibri"/>
              </a:rPr>
              <a:t>	</a:t>
            </a:r>
            <a:r>
              <a:rPr dirty="0" sz="2750" spc="-50" b="1">
                <a:solidFill>
                  <a:srgbClr val="C084FB"/>
                </a:solidFill>
                <a:latin typeface="Calibri"/>
                <a:cs typeface="Calibri"/>
              </a:rPr>
              <a:t>|</a:t>
            </a:r>
            <a:r>
              <a:rPr dirty="0" sz="2750" b="1">
                <a:solidFill>
                  <a:srgbClr val="C084FB"/>
                </a:solidFill>
                <a:latin typeface="Calibri"/>
                <a:cs typeface="Calibri"/>
              </a:rPr>
              <a:t>	No</a:t>
            </a:r>
            <a:r>
              <a:rPr dirty="0" sz="2750" spc="35" b="1">
                <a:solidFill>
                  <a:srgbClr val="C084FB"/>
                </a:solidFill>
                <a:latin typeface="Calibri"/>
                <a:cs typeface="Calibri"/>
              </a:rPr>
              <a:t> </a:t>
            </a:r>
            <a:r>
              <a:rPr dirty="0" sz="2750" spc="-10" b="1">
                <a:solidFill>
                  <a:srgbClr val="C084FB"/>
                </a:solidFill>
                <a:latin typeface="Calibri"/>
                <a:cs typeface="Calibri"/>
              </a:rPr>
              <a:t>Tracking</a:t>
            </a:r>
            <a:endParaRPr sz="2750">
              <a:latin typeface="Calibri"/>
              <a:cs typeface="Calibri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571500" y="2057400"/>
            <a:ext cx="4305300" cy="5915025"/>
            <a:chOff x="571500" y="2057400"/>
            <a:chExt cx="4305300" cy="5915025"/>
          </a:xfrm>
        </p:grpSpPr>
        <p:pic>
          <p:nvPicPr>
            <p:cNvPr id="19" name="object 1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1500" y="2057400"/>
              <a:ext cx="4295775" cy="5867400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025" y="2095500"/>
              <a:ext cx="4295775" cy="5876925"/>
            </a:xfrm>
            <a:prstGeom prst="rect">
              <a:avLst/>
            </a:prstGeom>
          </p:spPr>
        </p:pic>
      </p:grpSp>
      <p:grpSp>
        <p:nvGrpSpPr>
          <p:cNvPr id="21" name="object 21" descr=""/>
          <p:cNvGrpSpPr/>
          <p:nvPr/>
        </p:nvGrpSpPr>
        <p:grpSpPr>
          <a:xfrm>
            <a:off x="6210300" y="1866900"/>
            <a:ext cx="4305300" cy="6057900"/>
            <a:chOff x="6210300" y="1866900"/>
            <a:chExt cx="4305300" cy="6057900"/>
          </a:xfrm>
        </p:grpSpPr>
        <p:pic>
          <p:nvPicPr>
            <p:cNvPr id="22" name="object 2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10300" y="1866900"/>
              <a:ext cx="4305300" cy="5991225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10300" y="1933575"/>
              <a:ext cx="4305300" cy="5991225"/>
            </a:xfrm>
            <a:prstGeom prst="rect">
              <a:avLst/>
            </a:prstGeom>
          </p:spPr>
        </p:pic>
      </p:grpSp>
      <p:grpSp>
        <p:nvGrpSpPr>
          <p:cNvPr id="24" name="object 24" descr=""/>
          <p:cNvGrpSpPr/>
          <p:nvPr/>
        </p:nvGrpSpPr>
        <p:grpSpPr>
          <a:xfrm>
            <a:off x="13173075" y="2057400"/>
            <a:ext cx="4305300" cy="5915025"/>
            <a:chOff x="13173075" y="2057400"/>
            <a:chExt cx="4305300" cy="5915025"/>
          </a:xfrm>
        </p:grpSpPr>
        <p:pic>
          <p:nvPicPr>
            <p:cNvPr id="25" name="object 2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73075" y="2057400"/>
              <a:ext cx="4305300" cy="5867400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73075" y="2095500"/>
              <a:ext cx="4305300" cy="5876925"/>
            </a:xfrm>
            <a:prstGeom prst="rect">
              <a:avLst/>
            </a:prstGeom>
          </p:spPr>
        </p:pic>
      </p:grpSp>
      <p:pic>
        <p:nvPicPr>
          <p:cNvPr id="27" name="object 2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62475" y="8039100"/>
            <a:ext cx="8420100" cy="6000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86400" y="371475"/>
            <a:ext cx="7315200" cy="131445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40335">
              <a:lnSpc>
                <a:spcPct val="100000"/>
              </a:lnSpc>
              <a:spcBef>
                <a:spcPts val="125"/>
              </a:spcBef>
            </a:pPr>
            <a:r>
              <a:rPr dirty="0"/>
              <a:t>Methodology</a:t>
            </a:r>
            <a:r>
              <a:rPr dirty="0" spc="65"/>
              <a:t> </a:t>
            </a:r>
            <a:r>
              <a:rPr dirty="0"/>
              <a:t>/</a:t>
            </a:r>
            <a:r>
              <a:rPr dirty="0" spc="85"/>
              <a:t> </a:t>
            </a:r>
            <a:r>
              <a:rPr dirty="0" spc="-10"/>
              <a:t>Workflow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24475" y="8134349"/>
            <a:ext cx="7658100" cy="2152648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182687" y="2176780"/>
            <a:ext cx="673735" cy="7924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000" spc="-25" b="1">
                <a:solidFill>
                  <a:srgbClr val="FFFFFF"/>
                </a:solidFill>
                <a:latin typeface="Calibri"/>
                <a:cs typeface="Calibri"/>
              </a:rPr>
              <a:t>01</a:t>
            </a:r>
            <a:endParaRPr sz="5000">
              <a:latin typeface="Calibri"/>
              <a:cs typeface="Calibri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4624451" y="3910076"/>
            <a:ext cx="0" cy="323850"/>
          </a:xfrm>
          <a:custGeom>
            <a:avLst/>
            <a:gdLst/>
            <a:ahLst/>
            <a:cxnLst/>
            <a:rect l="l" t="t" r="r" b="b"/>
            <a:pathLst>
              <a:path w="0" h="323850">
                <a:moveTo>
                  <a:pt x="0" y="0"/>
                </a:moveTo>
                <a:lnTo>
                  <a:pt x="0" y="323850"/>
                </a:lnTo>
              </a:path>
            </a:pathLst>
          </a:custGeom>
          <a:ln w="12700">
            <a:solidFill>
              <a:srgbClr val="7A2EBD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2860675" y="1914723"/>
            <a:ext cx="13051790" cy="1747520"/>
          </a:xfrm>
          <a:prstGeom prst="rect">
            <a:avLst/>
          </a:prstGeom>
        </p:spPr>
        <p:txBody>
          <a:bodyPr wrap="square" lIns="0" tIns="2190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25"/>
              </a:spcBef>
            </a:pPr>
            <a:r>
              <a:rPr dirty="0" sz="3200" b="1">
                <a:solidFill>
                  <a:srgbClr val="C084FB"/>
                </a:solidFill>
                <a:latin typeface="Calibri"/>
                <a:cs typeface="Calibri"/>
              </a:rPr>
              <a:t>User</a:t>
            </a:r>
            <a:r>
              <a:rPr dirty="0" sz="3200" spc="-30" b="1">
                <a:solidFill>
                  <a:srgbClr val="C084FB"/>
                </a:solidFill>
                <a:latin typeface="Calibri"/>
                <a:cs typeface="Calibri"/>
              </a:rPr>
              <a:t> </a:t>
            </a:r>
            <a:r>
              <a:rPr dirty="0" sz="3200" b="1">
                <a:solidFill>
                  <a:srgbClr val="C084FB"/>
                </a:solidFill>
                <a:latin typeface="Calibri"/>
                <a:cs typeface="Calibri"/>
              </a:rPr>
              <a:t>Input </a:t>
            </a:r>
            <a:r>
              <a:rPr dirty="0" sz="3200" spc="-10" b="1">
                <a:solidFill>
                  <a:srgbClr val="C084FB"/>
                </a:solidFill>
                <a:latin typeface="Calibri"/>
                <a:cs typeface="Calibri"/>
              </a:rPr>
              <a:t>Capture</a:t>
            </a:r>
            <a:endParaRPr sz="3200">
              <a:latin typeface="Calibri"/>
              <a:cs typeface="Calibri"/>
            </a:endParaRPr>
          </a:p>
          <a:p>
            <a:pPr marL="12700" marR="5080">
              <a:lnSpc>
                <a:spcPct val="102299"/>
              </a:lnSpc>
              <a:spcBef>
                <a:spcPts val="1335"/>
              </a:spcBef>
            </a:pP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Voice/text</a:t>
            </a:r>
            <a:r>
              <a:rPr dirty="0" sz="2750" spc="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input</a:t>
            </a:r>
            <a:r>
              <a:rPr dirty="0" sz="2750" spc="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dirty="0" sz="2750" spc="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captured</a:t>
            </a:r>
            <a:r>
              <a:rPr dirty="0" sz="2750" spc="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entirely</a:t>
            </a:r>
            <a:r>
              <a:rPr dirty="0" sz="2750" spc="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on-device</a:t>
            </a:r>
            <a:r>
              <a:rPr dirty="0" sz="2750" spc="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via</a:t>
            </a:r>
            <a:r>
              <a:rPr dirty="0" sz="2750" spc="1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750" spc="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Flutter</a:t>
            </a:r>
            <a:r>
              <a:rPr dirty="0" sz="2750" spc="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app.</a:t>
            </a:r>
            <a:r>
              <a:rPr dirty="0" sz="2750" spc="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Input</a:t>
            </a:r>
            <a:r>
              <a:rPr dirty="0" sz="2750" spc="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never</a:t>
            </a:r>
            <a:r>
              <a:rPr dirty="0" sz="2750" spc="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touches</a:t>
            </a:r>
            <a:r>
              <a:rPr dirty="0" sz="2750" spc="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 spc="-25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network</a:t>
            </a:r>
            <a:r>
              <a:rPr dirty="0" sz="2750" spc="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 spc="-10">
                <a:solidFill>
                  <a:srgbClr val="FFFFFF"/>
                </a:solidFill>
                <a:latin typeface="Calibri"/>
                <a:cs typeface="Calibri"/>
              </a:rPr>
              <a:t>layer.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182687" y="4109974"/>
            <a:ext cx="673735" cy="7924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000" spc="-25" b="1">
                <a:solidFill>
                  <a:srgbClr val="FFFFFF"/>
                </a:solidFill>
                <a:latin typeface="Calibri"/>
                <a:cs typeface="Calibri"/>
              </a:rPr>
              <a:t>02</a:t>
            </a:r>
            <a:endParaRPr sz="5000">
              <a:latin typeface="Calibri"/>
              <a:cs typeface="Calibri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4110101" y="6872223"/>
            <a:ext cx="0" cy="323850"/>
          </a:xfrm>
          <a:custGeom>
            <a:avLst/>
            <a:gdLst/>
            <a:ahLst/>
            <a:cxnLst/>
            <a:rect l="l" t="t" r="r" b="b"/>
            <a:pathLst>
              <a:path w="0" h="323850">
                <a:moveTo>
                  <a:pt x="0" y="0"/>
                </a:moveTo>
                <a:lnTo>
                  <a:pt x="0" y="323850"/>
                </a:lnTo>
              </a:path>
            </a:pathLst>
          </a:custGeom>
          <a:ln w="12700">
            <a:solidFill>
              <a:srgbClr val="7A2EBD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2860675" y="3893097"/>
            <a:ext cx="11779250" cy="1863089"/>
          </a:xfrm>
          <a:prstGeom prst="rect">
            <a:avLst/>
          </a:prstGeom>
        </p:spPr>
        <p:txBody>
          <a:bodyPr wrap="square" lIns="0" tIns="2813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15"/>
              </a:spcBef>
            </a:pPr>
            <a:r>
              <a:rPr dirty="0" sz="3200" b="1">
                <a:solidFill>
                  <a:srgbClr val="C084FB"/>
                </a:solidFill>
                <a:latin typeface="Calibri"/>
                <a:cs typeface="Calibri"/>
              </a:rPr>
              <a:t>Local</a:t>
            </a:r>
            <a:r>
              <a:rPr dirty="0" sz="3200" spc="-40" b="1">
                <a:solidFill>
                  <a:srgbClr val="C084FB"/>
                </a:solidFill>
                <a:latin typeface="Calibri"/>
                <a:cs typeface="Calibri"/>
              </a:rPr>
              <a:t> </a:t>
            </a:r>
            <a:r>
              <a:rPr dirty="0" sz="3200" spc="-10" b="1">
                <a:solidFill>
                  <a:srgbClr val="C084FB"/>
                </a:solidFill>
                <a:latin typeface="Calibri"/>
                <a:cs typeface="Calibri"/>
              </a:rPr>
              <a:t>Inference</a:t>
            </a:r>
            <a:r>
              <a:rPr dirty="0" sz="3200" spc="-50" b="1">
                <a:solidFill>
                  <a:srgbClr val="C084FB"/>
                </a:solidFill>
                <a:latin typeface="Calibri"/>
                <a:cs typeface="Calibri"/>
              </a:rPr>
              <a:t> </a:t>
            </a:r>
            <a:r>
              <a:rPr dirty="0" sz="3200" spc="-10" b="1">
                <a:solidFill>
                  <a:srgbClr val="C084FB"/>
                </a:solidFill>
                <a:latin typeface="Calibri"/>
                <a:cs typeface="Calibri"/>
              </a:rPr>
              <a:t>(Phi-</a:t>
            </a:r>
            <a:r>
              <a:rPr dirty="0" sz="3200" b="1">
                <a:solidFill>
                  <a:srgbClr val="C084FB"/>
                </a:solidFill>
                <a:latin typeface="Calibri"/>
                <a:cs typeface="Calibri"/>
              </a:rPr>
              <a:t>3</a:t>
            </a:r>
            <a:r>
              <a:rPr dirty="0" sz="3200" spc="-55" b="1">
                <a:solidFill>
                  <a:srgbClr val="C084FB"/>
                </a:solidFill>
                <a:latin typeface="Calibri"/>
                <a:cs typeface="Calibri"/>
              </a:rPr>
              <a:t> </a:t>
            </a:r>
            <a:r>
              <a:rPr dirty="0" sz="3200" b="1">
                <a:solidFill>
                  <a:srgbClr val="C084FB"/>
                </a:solidFill>
                <a:latin typeface="Calibri"/>
                <a:cs typeface="Calibri"/>
              </a:rPr>
              <a:t>Mini</a:t>
            </a:r>
            <a:r>
              <a:rPr dirty="0" sz="3200" spc="-45" b="1">
                <a:solidFill>
                  <a:srgbClr val="C084FB"/>
                </a:solidFill>
                <a:latin typeface="Calibri"/>
                <a:cs typeface="Calibri"/>
              </a:rPr>
              <a:t> </a:t>
            </a:r>
            <a:r>
              <a:rPr dirty="0" sz="3200" b="1">
                <a:solidFill>
                  <a:srgbClr val="C084FB"/>
                </a:solidFill>
                <a:latin typeface="Calibri"/>
                <a:cs typeface="Calibri"/>
              </a:rPr>
              <a:t>via</a:t>
            </a:r>
            <a:r>
              <a:rPr dirty="0" sz="3200" spc="-10" b="1">
                <a:solidFill>
                  <a:srgbClr val="C084FB"/>
                </a:solidFill>
                <a:latin typeface="Calibri"/>
                <a:cs typeface="Calibri"/>
              </a:rPr>
              <a:t> </a:t>
            </a:r>
            <a:r>
              <a:rPr dirty="0" sz="3200" b="1">
                <a:solidFill>
                  <a:srgbClr val="C084FB"/>
                </a:solidFill>
                <a:latin typeface="Calibri"/>
                <a:cs typeface="Calibri"/>
              </a:rPr>
              <a:t>ONNX</a:t>
            </a:r>
            <a:r>
              <a:rPr dirty="0" sz="3200" spc="-50" b="1">
                <a:solidFill>
                  <a:srgbClr val="C084FB"/>
                </a:solidFill>
                <a:latin typeface="Calibri"/>
                <a:cs typeface="Calibri"/>
              </a:rPr>
              <a:t> </a:t>
            </a:r>
            <a:r>
              <a:rPr dirty="0" sz="3200" spc="-10" b="1">
                <a:solidFill>
                  <a:srgbClr val="C084FB"/>
                </a:solidFill>
                <a:latin typeface="Calibri"/>
                <a:cs typeface="Calibri"/>
              </a:rPr>
              <a:t>Runtime)</a:t>
            </a:r>
            <a:endParaRPr sz="3200">
              <a:latin typeface="Calibri"/>
              <a:cs typeface="Calibri"/>
            </a:endParaRPr>
          </a:p>
          <a:p>
            <a:pPr marL="12700" marR="5080">
              <a:lnSpc>
                <a:spcPct val="102400"/>
              </a:lnSpc>
              <a:spcBef>
                <a:spcPts val="1745"/>
              </a:spcBef>
            </a:pP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Quantized</a:t>
            </a:r>
            <a:r>
              <a:rPr dirty="0" sz="2750" spc="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INT4</a:t>
            </a:r>
            <a:r>
              <a:rPr dirty="0" sz="2750" spc="11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Phi-3</a:t>
            </a:r>
            <a:r>
              <a:rPr dirty="0" sz="2750" spc="10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Mini</a:t>
            </a:r>
            <a:r>
              <a:rPr dirty="0" sz="2750" spc="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r>
              <a:rPr dirty="0" sz="2750" spc="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runs</a:t>
            </a:r>
            <a:r>
              <a:rPr dirty="0" sz="2750" spc="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directly</a:t>
            </a:r>
            <a:r>
              <a:rPr dirty="0" sz="2750" spc="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dirty="0" sz="2750" spc="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750" spc="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mobile</a:t>
            </a:r>
            <a:r>
              <a:rPr dirty="0" sz="2750" spc="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NPU/CPU.</a:t>
            </a:r>
            <a:r>
              <a:rPr dirty="0" sz="2750" spc="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 spc="-10">
                <a:solidFill>
                  <a:srgbClr val="FFFFFF"/>
                </a:solidFill>
                <a:latin typeface="Calibri"/>
                <a:cs typeface="Calibri"/>
              </a:rPr>
              <a:t>Response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generated</a:t>
            </a:r>
            <a:r>
              <a:rPr dirty="0" sz="2750" spc="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dirty="0" sz="2750" spc="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~1–2</a:t>
            </a:r>
            <a:r>
              <a:rPr dirty="0" sz="2750" spc="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 spc="-10">
                <a:solidFill>
                  <a:srgbClr val="FFFFFF"/>
                </a:solidFill>
                <a:latin typeface="Calibri"/>
                <a:cs typeface="Calibri"/>
              </a:rPr>
              <a:t>seconds.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182687" y="6434073"/>
            <a:ext cx="673735" cy="7924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000" spc="-25" b="1">
                <a:solidFill>
                  <a:srgbClr val="FFFFFF"/>
                </a:solidFill>
                <a:latin typeface="Calibri"/>
                <a:cs typeface="Calibri"/>
              </a:rPr>
              <a:t>03</a:t>
            </a:r>
            <a:endParaRPr sz="50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2860675" y="6437527"/>
            <a:ext cx="14051280" cy="1139825"/>
          </a:xfrm>
          <a:prstGeom prst="rect">
            <a:avLst/>
          </a:prstGeom>
        </p:spPr>
        <p:txBody>
          <a:bodyPr wrap="square" lIns="0" tIns="1225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dirty="0" sz="3200" spc="-10" b="1">
                <a:solidFill>
                  <a:srgbClr val="C084FB"/>
                </a:solidFill>
                <a:latin typeface="Calibri"/>
                <a:cs typeface="Calibri"/>
              </a:rPr>
              <a:t>Context</a:t>
            </a:r>
            <a:r>
              <a:rPr dirty="0" sz="3200" spc="-165" b="1">
                <a:solidFill>
                  <a:srgbClr val="C084FB"/>
                </a:solidFill>
                <a:latin typeface="Calibri"/>
                <a:cs typeface="Calibri"/>
              </a:rPr>
              <a:t> </a:t>
            </a:r>
            <a:r>
              <a:rPr dirty="0" sz="3200" b="1">
                <a:solidFill>
                  <a:srgbClr val="C084FB"/>
                </a:solidFill>
                <a:latin typeface="Calibri"/>
                <a:cs typeface="Calibri"/>
              </a:rPr>
              <a:t>Retrieval</a:t>
            </a:r>
            <a:r>
              <a:rPr dirty="0" sz="3200" spc="-90" b="1">
                <a:solidFill>
                  <a:srgbClr val="C084FB"/>
                </a:solidFill>
                <a:latin typeface="Calibri"/>
                <a:cs typeface="Calibri"/>
              </a:rPr>
              <a:t> </a:t>
            </a:r>
            <a:r>
              <a:rPr dirty="0" sz="3200" b="1">
                <a:solidFill>
                  <a:srgbClr val="C084FB"/>
                </a:solidFill>
                <a:latin typeface="Calibri"/>
                <a:cs typeface="Calibri"/>
              </a:rPr>
              <a:t>from</a:t>
            </a:r>
            <a:r>
              <a:rPr dirty="0" sz="3200" spc="-170" b="1">
                <a:solidFill>
                  <a:srgbClr val="C084FB"/>
                </a:solidFill>
                <a:latin typeface="Calibri"/>
                <a:cs typeface="Calibri"/>
              </a:rPr>
              <a:t> </a:t>
            </a:r>
            <a:r>
              <a:rPr dirty="0" sz="3200" b="1">
                <a:solidFill>
                  <a:srgbClr val="C084FB"/>
                </a:solidFill>
                <a:latin typeface="Calibri"/>
                <a:cs typeface="Calibri"/>
              </a:rPr>
              <a:t>Privacy</a:t>
            </a:r>
            <a:r>
              <a:rPr dirty="0" sz="3200" spc="-135" b="1">
                <a:solidFill>
                  <a:srgbClr val="C084FB"/>
                </a:solidFill>
                <a:latin typeface="Calibri"/>
                <a:cs typeface="Calibri"/>
              </a:rPr>
              <a:t> </a:t>
            </a:r>
            <a:r>
              <a:rPr dirty="0" sz="3200" spc="-10" b="1">
                <a:solidFill>
                  <a:srgbClr val="C084FB"/>
                </a:solidFill>
                <a:latin typeface="Calibri"/>
                <a:cs typeface="Calibri"/>
              </a:rPr>
              <a:t>Vault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Relevant</a:t>
            </a:r>
            <a:r>
              <a:rPr dirty="0" sz="2750" spc="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personal</a:t>
            </a:r>
            <a:r>
              <a:rPr dirty="0" sz="2750" spc="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context</a:t>
            </a:r>
            <a:r>
              <a:rPr dirty="0" sz="2750" spc="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(habits,</a:t>
            </a:r>
            <a:r>
              <a:rPr dirty="0" sz="2750" spc="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preferences,</a:t>
            </a:r>
            <a:r>
              <a:rPr dirty="0" sz="275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history)</a:t>
            </a:r>
            <a:r>
              <a:rPr dirty="0" sz="275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dirty="0" sz="2750" spc="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fetched</a:t>
            </a:r>
            <a:r>
              <a:rPr dirty="0" sz="2750" spc="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2750" spc="1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AES-256</a:t>
            </a:r>
            <a:r>
              <a:rPr dirty="0" sz="2750" spc="1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encrypted</a:t>
            </a:r>
            <a:r>
              <a:rPr dirty="0" sz="2750" spc="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 spc="-10">
                <a:solidFill>
                  <a:srgbClr val="FFFFFF"/>
                </a:solidFill>
                <a:latin typeface="Calibri"/>
                <a:cs typeface="Calibri"/>
              </a:rPr>
              <a:t>SQLite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860675" y="7557452"/>
            <a:ext cx="4195445" cy="4489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DB</a:t>
            </a:r>
            <a:r>
              <a:rPr dirty="0" sz="2750" spc="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2750" spc="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injected</a:t>
            </a:r>
            <a:r>
              <a:rPr dirty="0" sz="2750" spc="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FFFFF"/>
                </a:solidFill>
                <a:latin typeface="Calibri"/>
                <a:cs typeface="Calibri"/>
              </a:rPr>
              <a:t>into</a:t>
            </a:r>
            <a:r>
              <a:rPr dirty="0" sz="2750" spc="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50" spc="-10">
                <a:solidFill>
                  <a:srgbClr val="FFFFFF"/>
                </a:solidFill>
                <a:latin typeface="Calibri"/>
                <a:cs typeface="Calibri"/>
              </a:rPr>
              <a:t>prompt.</a:t>
            </a:r>
            <a:endParaRPr sz="27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0065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Methodology</a:t>
            </a:r>
            <a:r>
              <a:rPr dirty="0" spc="65"/>
              <a:t> </a:t>
            </a:r>
            <a:r>
              <a:rPr dirty="0"/>
              <a:t>/</a:t>
            </a:r>
            <a:r>
              <a:rPr dirty="0" spc="60"/>
              <a:t> </a:t>
            </a:r>
            <a:r>
              <a:rPr dirty="0" spc="-10"/>
              <a:t>Workflow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458341" y="2501899"/>
            <a:ext cx="673735" cy="7924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000" spc="-25" b="1">
                <a:solidFill>
                  <a:srgbClr val="FFFFFF"/>
                </a:solidFill>
                <a:latin typeface="Calibri"/>
                <a:cs typeface="Calibri"/>
              </a:rPr>
              <a:t>04</a:t>
            </a:r>
            <a:endParaRPr sz="5000">
              <a:latin typeface="Calibri"/>
              <a:cs typeface="Calibri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2186051" y="4967351"/>
            <a:ext cx="0" cy="314325"/>
          </a:xfrm>
          <a:custGeom>
            <a:avLst/>
            <a:gdLst/>
            <a:ahLst/>
            <a:cxnLst/>
            <a:rect l="l" t="t" r="r" b="b"/>
            <a:pathLst>
              <a:path w="0" h="314325">
                <a:moveTo>
                  <a:pt x="0" y="0"/>
                </a:moveTo>
                <a:lnTo>
                  <a:pt x="0" y="314325"/>
                </a:lnTo>
              </a:path>
            </a:pathLst>
          </a:custGeom>
          <a:ln w="12700">
            <a:solidFill>
              <a:srgbClr val="7A2EBD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2795016" y="2586410"/>
            <a:ext cx="12402820" cy="1391920"/>
          </a:xfrm>
          <a:prstGeom prst="rect">
            <a:avLst/>
          </a:prstGeom>
        </p:spPr>
        <p:txBody>
          <a:bodyPr wrap="square" lIns="0" tIns="130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dirty="0" sz="2750" b="1">
                <a:solidFill>
                  <a:srgbClr val="C084FB"/>
                </a:solidFill>
                <a:latin typeface="Calibri"/>
                <a:cs typeface="Calibri"/>
              </a:rPr>
              <a:t>Behavioral</a:t>
            </a:r>
            <a:r>
              <a:rPr dirty="0" sz="2750" spc="75" b="1">
                <a:solidFill>
                  <a:srgbClr val="C084FB"/>
                </a:solidFill>
                <a:latin typeface="Calibri"/>
                <a:cs typeface="Calibri"/>
              </a:rPr>
              <a:t> </a:t>
            </a:r>
            <a:r>
              <a:rPr dirty="0" sz="2750" b="1">
                <a:solidFill>
                  <a:srgbClr val="C084FB"/>
                </a:solidFill>
                <a:latin typeface="Calibri"/>
                <a:cs typeface="Calibri"/>
              </a:rPr>
              <a:t>Learning</a:t>
            </a:r>
            <a:r>
              <a:rPr dirty="0" sz="2750" spc="114" b="1">
                <a:solidFill>
                  <a:srgbClr val="C084FB"/>
                </a:solidFill>
                <a:latin typeface="Calibri"/>
                <a:cs typeface="Calibri"/>
              </a:rPr>
              <a:t> </a:t>
            </a:r>
            <a:r>
              <a:rPr dirty="0" sz="2750" spc="-10" b="1">
                <a:solidFill>
                  <a:srgbClr val="C084FB"/>
                </a:solidFill>
                <a:latin typeface="Calibri"/>
                <a:cs typeface="Calibri"/>
              </a:rPr>
              <a:t>Engine</a:t>
            </a:r>
            <a:endParaRPr sz="2750">
              <a:latin typeface="Calibri"/>
              <a:cs typeface="Calibri"/>
            </a:endParaRPr>
          </a:p>
          <a:p>
            <a:pPr marL="12700">
              <a:lnSpc>
                <a:spcPts val="2870"/>
              </a:lnSpc>
              <a:spcBef>
                <a:spcPts val="790"/>
              </a:spcBef>
            </a:pP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Usage</a:t>
            </a:r>
            <a:r>
              <a:rPr dirty="0" sz="2400" spc="-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patterns</a:t>
            </a:r>
            <a:r>
              <a:rPr dirty="0" sz="2400" spc="-11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 analyzed</a:t>
            </a:r>
            <a:r>
              <a:rPr dirty="0" sz="24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FFFFFF"/>
                </a:solidFill>
                <a:latin typeface="Calibri"/>
                <a:cs typeface="Calibri"/>
              </a:rPr>
              <a:t>locally.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LoRA</a:t>
            </a:r>
            <a:r>
              <a:rPr dirty="0" sz="24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adapters</a:t>
            </a:r>
            <a:r>
              <a:rPr dirty="0" sz="24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fine-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tune</a:t>
            </a:r>
            <a:r>
              <a:rPr dirty="0" sz="24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4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r>
              <a:rPr dirty="0" sz="24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weights</a:t>
            </a:r>
            <a:r>
              <a:rPr dirty="0" sz="24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35">
                <a:solidFill>
                  <a:srgbClr val="FFFFFF"/>
                </a:solidFill>
                <a:latin typeface="Calibri"/>
                <a:cs typeface="Calibri"/>
              </a:rPr>
              <a:t>on-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device</a:t>
            </a:r>
            <a:r>
              <a:rPr dirty="0" sz="24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weekly</a:t>
            </a:r>
            <a:r>
              <a:rPr dirty="0" sz="2400" spc="-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50">
                <a:solidFill>
                  <a:srgbClr val="FFFFFF"/>
                </a:solidFill>
                <a:latin typeface="Calibri"/>
                <a:cs typeface="Calibri"/>
              </a:rPr>
              <a:t>—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ts val="2870"/>
              </a:lnSpc>
            </a:pP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r>
              <a:rPr dirty="0" sz="24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gets</a:t>
            </a:r>
            <a:r>
              <a:rPr dirty="0" sz="24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more</a:t>
            </a:r>
            <a:r>
              <a:rPr dirty="0" sz="24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FFFFFF"/>
                </a:solidFill>
                <a:latin typeface="Calibri"/>
                <a:cs typeface="Calibri"/>
              </a:rPr>
              <a:t>personalized</a:t>
            </a:r>
            <a:r>
              <a:rPr dirty="0" sz="24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without</a:t>
            </a:r>
            <a:r>
              <a:rPr dirty="0" sz="24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any</a:t>
            </a:r>
            <a:r>
              <a:rPr dirty="0" sz="24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dirty="0" sz="2400" spc="-10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leaving.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462405" y="4776724"/>
            <a:ext cx="673735" cy="7924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000" spc="-25" b="1">
                <a:solidFill>
                  <a:srgbClr val="FFFFFF"/>
                </a:solidFill>
                <a:latin typeface="Calibri"/>
                <a:cs typeface="Calibri"/>
              </a:rPr>
              <a:t>05</a:t>
            </a:r>
            <a:endParaRPr sz="5000">
              <a:latin typeface="Calibri"/>
              <a:cs typeface="Calibri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2186051" y="6015101"/>
            <a:ext cx="0" cy="323850"/>
          </a:xfrm>
          <a:custGeom>
            <a:avLst/>
            <a:gdLst/>
            <a:ahLst/>
            <a:cxnLst/>
            <a:rect l="l" t="t" r="r" b="b"/>
            <a:pathLst>
              <a:path w="0" h="323850">
                <a:moveTo>
                  <a:pt x="0" y="0"/>
                </a:moveTo>
                <a:lnTo>
                  <a:pt x="0" y="323850"/>
                </a:lnTo>
              </a:path>
            </a:pathLst>
          </a:custGeom>
          <a:ln w="12700">
            <a:solidFill>
              <a:srgbClr val="7A2EBD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2926333" y="4734691"/>
            <a:ext cx="12108180" cy="1497965"/>
          </a:xfrm>
          <a:prstGeom prst="rect">
            <a:avLst/>
          </a:prstGeom>
        </p:spPr>
        <p:txBody>
          <a:bodyPr wrap="square" lIns="0" tIns="1873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75"/>
              </a:spcBef>
            </a:pPr>
            <a:r>
              <a:rPr dirty="0" sz="2750" b="1">
                <a:solidFill>
                  <a:srgbClr val="C084FB"/>
                </a:solidFill>
                <a:latin typeface="Calibri"/>
                <a:cs typeface="Calibri"/>
              </a:rPr>
              <a:t>Privacy</a:t>
            </a:r>
            <a:r>
              <a:rPr dirty="0" sz="2750" spc="-10" b="1">
                <a:solidFill>
                  <a:srgbClr val="C084FB"/>
                </a:solidFill>
                <a:latin typeface="Calibri"/>
                <a:cs typeface="Calibri"/>
              </a:rPr>
              <a:t> </a:t>
            </a:r>
            <a:r>
              <a:rPr dirty="0" sz="2750" b="1">
                <a:solidFill>
                  <a:srgbClr val="C084FB"/>
                </a:solidFill>
                <a:latin typeface="Calibri"/>
                <a:cs typeface="Calibri"/>
              </a:rPr>
              <a:t>Vault</a:t>
            </a:r>
            <a:r>
              <a:rPr dirty="0" sz="2750" spc="40" b="1">
                <a:solidFill>
                  <a:srgbClr val="C084FB"/>
                </a:solidFill>
                <a:latin typeface="Calibri"/>
                <a:cs typeface="Calibri"/>
              </a:rPr>
              <a:t> </a:t>
            </a:r>
            <a:r>
              <a:rPr dirty="0" sz="2750" spc="-10" b="1">
                <a:solidFill>
                  <a:srgbClr val="C084FB"/>
                </a:solidFill>
                <a:latin typeface="Calibri"/>
                <a:cs typeface="Calibri"/>
              </a:rPr>
              <a:t>Update</a:t>
            </a:r>
            <a:endParaRPr sz="2750">
              <a:latin typeface="Calibri"/>
              <a:cs typeface="Calibri"/>
            </a:endParaRPr>
          </a:p>
          <a:p>
            <a:pPr marL="12700">
              <a:lnSpc>
                <a:spcPts val="2870"/>
              </a:lnSpc>
              <a:spcBef>
                <a:spcPts val="1180"/>
              </a:spcBef>
            </a:pP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New</a:t>
            </a:r>
            <a:r>
              <a:rPr dirty="0" sz="24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user</a:t>
            </a:r>
            <a:r>
              <a:rPr dirty="0" sz="24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FFFFFF"/>
                </a:solidFill>
                <a:latin typeface="Calibri"/>
                <a:cs typeface="Calibri"/>
              </a:rPr>
              <a:t>preferences</a:t>
            </a:r>
            <a:r>
              <a:rPr dirty="0" sz="2400" spc="-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24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behavioral</a:t>
            </a:r>
            <a:r>
              <a:rPr dirty="0" sz="24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signals</a:t>
            </a:r>
            <a:r>
              <a:rPr dirty="0" sz="24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dirty="0" sz="24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encrypted</a:t>
            </a:r>
            <a:r>
              <a:rPr dirty="0" sz="24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24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stored</a:t>
            </a:r>
            <a:r>
              <a:rPr dirty="0" sz="24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dirty="0" sz="24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SQLite</a:t>
            </a:r>
            <a:r>
              <a:rPr dirty="0" sz="24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+ </a:t>
            </a:r>
            <a:r>
              <a:rPr dirty="0" sz="2400" spc="-30">
                <a:solidFill>
                  <a:srgbClr val="FFFFFF"/>
                </a:solidFill>
                <a:latin typeface="Calibri"/>
                <a:cs typeface="Calibri"/>
              </a:rPr>
              <a:t>SQLCipher.</a:t>
            </a:r>
            <a:r>
              <a:rPr dirty="0" sz="24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FFFFFF"/>
                </a:solidFill>
                <a:latin typeface="Calibri"/>
                <a:cs typeface="Calibri"/>
              </a:rPr>
              <a:t>Keys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ts val="2870"/>
              </a:lnSpc>
            </a:pP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managed</a:t>
            </a:r>
            <a:r>
              <a:rPr dirty="0" sz="24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via</a:t>
            </a:r>
            <a:r>
              <a:rPr dirty="0" sz="2400" spc="-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Android</a:t>
            </a:r>
            <a:r>
              <a:rPr dirty="0" sz="24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FFFFFF"/>
                </a:solidFill>
                <a:latin typeface="Calibri"/>
                <a:cs typeface="Calibri"/>
              </a:rPr>
              <a:t>Keystore</a:t>
            </a:r>
            <a:r>
              <a:rPr dirty="0" sz="24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/</a:t>
            </a:r>
            <a:r>
              <a:rPr dirty="0" sz="24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iOS</a:t>
            </a:r>
            <a:r>
              <a:rPr dirty="0" sz="24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Secure</a:t>
            </a:r>
            <a:r>
              <a:rPr dirty="0" sz="24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Enclave.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462405" y="7105015"/>
            <a:ext cx="673735" cy="7924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000" spc="-25" b="1">
                <a:solidFill>
                  <a:srgbClr val="FFFFFF"/>
                </a:solidFill>
                <a:latin typeface="Calibri"/>
                <a:cs typeface="Calibri"/>
              </a:rPr>
              <a:t>06</a:t>
            </a:r>
            <a:endParaRPr sz="50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2795016" y="7012741"/>
            <a:ext cx="11567160" cy="1391285"/>
          </a:xfrm>
          <a:prstGeom prst="rect">
            <a:avLst/>
          </a:prstGeom>
        </p:spPr>
        <p:txBody>
          <a:bodyPr wrap="square" lIns="0" tIns="130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dirty="0" sz="2750" b="1">
                <a:solidFill>
                  <a:srgbClr val="C084FB"/>
                </a:solidFill>
                <a:latin typeface="Calibri"/>
                <a:cs typeface="Calibri"/>
              </a:rPr>
              <a:t>Response</a:t>
            </a:r>
            <a:r>
              <a:rPr dirty="0" sz="2750" spc="35" b="1">
                <a:solidFill>
                  <a:srgbClr val="C084FB"/>
                </a:solidFill>
                <a:latin typeface="Calibri"/>
                <a:cs typeface="Calibri"/>
              </a:rPr>
              <a:t> </a:t>
            </a:r>
            <a:r>
              <a:rPr dirty="0" sz="2750" b="1">
                <a:solidFill>
                  <a:srgbClr val="C084FB"/>
                </a:solidFill>
                <a:latin typeface="Calibri"/>
                <a:cs typeface="Calibri"/>
              </a:rPr>
              <a:t>Delivery</a:t>
            </a:r>
            <a:r>
              <a:rPr dirty="0" sz="2750" spc="55" b="1">
                <a:solidFill>
                  <a:srgbClr val="C084FB"/>
                </a:solidFill>
                <a:latin typeface="Calibri"/>
                <a:cs typeface="Calibri"/>
              </a:rPr>
              <a:t> </a:t>
            </a:r>
            <a:r>
              <a:rPr dirty="0" sz="2750" b="1">
                <a:solidFill>
                  <a:srgbClr val="C084FB"/>
                </a:solidFill>
                <a:latin typeface="Calibri"/>
                <a:cs typeface="Calibri"/>
              </a:rPr>
              <a:t>+</a:t>
            </a:r>
            <a:r>
              <a:rPr dirty="0" sz="2750" spc="60" b="1">
                <a:solidFill>
                  <a:srgbClr val="C084FB"/>
                </a:solidFill>
                <a:latin typeface="Calibri"/>
                <a:cs typeface="Calibri"/>
              </a:rPr>
              <a:t> </a:t>
            </a:r>
            <a:r>
              <a:rPr dirty="0" sz="2750" b="1">
                <a:solidFill>
                  <a:srgbClr val="C084FB"/>
                </a:solidFill>
                <a:latin typeface="Calibri"/>
                <a:cs typeface="Calibri"/>
              </a:rPr>
              <a:t>User</a:t>
            </a:r>
            <a:r>
              <a:rPr dirty="0" sz="2750" spc="85" b="1">
                <a:solidFill>
                  <a:srgbClr val="C084FB"/>
                </a:solidFill>
                <a:latin typeface="Calibri"/>
                <a:cs typeface="Calibri"/>
              </a:rPr>
              <a:t> </a:t>
            </a:r>
            <a:r>
              <a:rPr dirty="0" sz="2750" spc="-10" b="1">
                <a:solidFill>
                  <a:srgbClr val="C084FB"/>
                </a:solidFill>
                <a:latin typeface="Calibri"/>
                <a:cs typeface="Calibri"/>
              </a:rPr>
              <a:t>Controls</a:t>
            </a:r>
            <a:endParaRPr sz="2750">
              <a:latin typeface="Calibri"/>
              <a:cs typeface="Calibri"/>
            </a:endParaRPr>
          </a:p>
          <a:p>
            <a:pPr marL="12700" marR="5080">
              <a:lnSpc>
                <a:spcPts val="2850"/>
              </a:lnSpc>
              <a:spcBef>
                <a:spcPts val="910"/>
              </a:spcBef>
            </a:pP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Personalized</a:t>
            </a:r>
            <a:r>
              <a:rPr dirty="0" sz="24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response</a:t>
            </a:r>
            <a:r>
              <a:rPr dirty="0" sz="24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shown</a:t>
            </a:r>
            <a:r>
              <a:rPr dirty="0" sz="24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24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30">
                <a:solidFill>
                  <a:srgbClr val="FFFFFF"/>
                </a:solidFill>
                <a:latin typeface="Calibri"/>
                <a:cs typeface="Calibri"/>
              </a:rPr>
              <a:t>user.</a:t>
            </a:r>
            <a:r>
              <a:rPr dirty="0" sz="2400" spc="-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Privacy</a:t>
            </a:r>
            <a:r>
              <a:rPr dirty="0" sz="2400" spc="-1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Dashboard</a:t>
            </a:r>
            <a:r>
              <a:rPr dirty="0" sz="24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lets</a:t>
            </a:r>
            <a:r>
              <a:rPr dirty="0" sz="24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user</a:t>
            </a:r>
            <a:r>
              <a:rPr dirty="0" sz="2400" spc="-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audit</a:t>
            </a:r>
            <a:r>
              <a:rPr dirty="0" sz="24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dirty="0" sz="24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stored</a:t>
            </a:r>
            <a:r>
              <a:rPr dirty="0" sz="24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data,</a:t>
            </a:r>
            <a:r>
              <a:rPr dirty="0" sz="24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delete categories,</a:t>
            </a:r>
            <a:r>
              <a:rPr dirty="0" sz="24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dirty="0" sz="2400" spc="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full</a:t>
            </a:r>
            <a:r>
              <a:rPr dirty="0" sz="24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wipe</a:t>
            </a:r>
            <a:r>
              <a:rPr dirty="0" sz="24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at</a:t>
            </a:r>
            <a:r>
              <a:rPr dirty="0" sz="24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any</a:t>
            </a:r>
            <a:r>
              <a:rPr dirty="0" sz="2400" spc="-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time.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86400" y="466725"/>
            <a:ext cx="7315200" cy="1314450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14950" y="8134349"/>
            <a:ext cx="7658100" cy="21526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103365" y="666432"/>
            <a:ext cx="6066155" cy="5403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-10">
                <a:solidFill>
                  <a:srgbClr val="FFFFFF"/>
                </a:solidFill>
                <a:latin typeface="Arial MT"/>
                <a:cs typeface="Arial MT"/>
              </a:rPr>
              <a:t>Technology</a:t>
            </a:r>
            <a:r>
              <a:rPr dirty="0" sz="3350" spc="-1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35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dirty="0" sz="3350" spc="-1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350">
                <a:solidFill>
                  <a:srgbClr val="FFFFFF"/>
                </a:solidFill>
                <a:latin typeface="Arial MT"/>
                <a:cs typeface="Arial MT"/>
              </a:rPr>
              <a:t>Value</a:t>
            </a:r>
            <a:r>
              <a:rPr dirty="0" sz="3350" spc="-1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350" spc="-10">
                <a:solidFill>
                  <a:srgbClr val="FFFFFF"/>
                </a:solidFill>
                <a:latin typeface="Arial MT"/>
                <a:cs typeface="Arial MT"/>
              </a:rPr>
              <a:t>Proposition</a:t>
            </a:r>
            <a:endParaRPr sz="3350">
              <a:latin typeface="Arial MT"/>
              <a:cs typeface="Arial MT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5281676" y="6205601"/>
            <a:ext cx="1371600" cy="0"/>
          </a:xfrm>
          <a:custGeom>
            <a:avLst/>
            <a:gdLst/>
            <a:ahLst/>
            <a:cxnLst/>
            <a:rect l="l" t="t" r="r" b="b"/>
            <a:pathLst>
              <a:path w="1371600" h="0">
                <a:moveTo>
                  <a:pt x="0" y="0"/>
                </a:moveTo>
                <a:lnTo>
                  <a:pt x="1371600" y="0"/>
                </a:lnTo>
              </a:path>
            </a:pathLst>
          </a:custGeom>
          <a:ln w="12700">
            <a:solidFill>
              <a:srgbClr val="2C1B6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2488564" y="2144077"/>
            <a:ext cx="1990089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50" b="1">
                <a:solidFill>
                  <a:srgbClr val="FFFFFF"/>
                </a:solidFill>
                <a:latin typeface="Calibri"/>
                <a:cs typeface="Calibri"/>
              </a:rPr>
              <a:t>Tech</a:t>
            </a:r>
            <a:r>
              <a:rPr dirty="0" sz="3600" spc="-14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600" spc="-10" b="1">
                <a:solidFill>
                  <a:srgbClr val="FFFFFF"/>
                </a:solidFill>
                <a:latin typeface="Calibri"/>
                <a:cs typeface="Calibri"/>
              </a:rPr>
              <a:t>Stack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116647" y="3338512"/>
            <a:ext cx="15881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C084FB"/>
                </a:solidFill>
                <a:latin typeface="Calibri"/>
                <a:cs typeface="Calibri"/>
              </a:rPr>
              <a:t>Mobile</a:t>
            </a:r>
            <a:r>
              <a:rPr dirty="0" sz="2400" spc="-60" b="1">
                <a:solidFill>
                  <a:srgbClr val="C084FB"/>
                </a:solidFill>
                <a:latin typeface="Calibri"/>
                <a:cs typeface="Calibri"/>
              </a:rPr>
              <a:t> </a:t>
            </a:r>
            <a:r>
              <a:rPr dirty="0" sz="2400" spc="-20" b="1">
                <a:solidFill>
                  <a:srgbClr val="C084FB"/>
                </a:solidFill>
                <a:latin typeface="Calibri"/>
                <a:cs typeface="Calibri"/>
              </a:rPr>
              <a:t>App: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408804" y="3338512"/>
            <a:ext cx="262128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Flutter</a:t>
            </a:r>
            <a:r>
              <a:rPr dirty="0" sz="2400" spc="-11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(Android/iOS)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116647" y="4269041"/>
            <a:ext cx="201104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C084FB"/>
                </a:solidFill>
                <a:latin typeface="Calibri"/>
                <a:cs typeface="Calibri"/>
              </a:rPr>
              <a:t>On-</a:t>
            </a:r>
            <a:r>
              <a:rPr dirty="0" sz="2400" b="1">
                <a:solidFill>
                  <a:srgbClr val="C084FB"/>
                </a:solidFill>
                <a:latin typeface="Calibri"/>
                <a:cs typeface="Calibri"/>
              </a:rPr>
              <a:t>Device</a:t>
            </a:r>
            <a:r>
              <a:rPr dirty="0" sz="2400" spc="-55" b="1">
                <a:solidFill>
                  <a:srgbClr val="C084FB"/>
                </a:solidFill>
                <a:latin typeface="Calibri"/>
                <a:cs typeface="Calibri"/>
              </a:rPr>
              <a:t> </a:t>
            </a:r>
            <a:r>
              <a:rPr dirty="0" sz="2400" spc="-20" b="1">
                <a:solidFill>
                  <a:srgbClr val="C084FB"/>
                </a:solidFill>
                <a:latin typeface="Calibri"/>
                <a:cs typeface="Calibri"/>
              </a:rPr>
              <a:t>LLM: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310126" y="4269041"/>
            <a:ext cx="432308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Phi-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r>
              <a:rPr dirty="0" sz="24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Mini</a:t>
            </a:r>
            <a:r>
              <a:rPr dirty="0" sz="24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·</a:t>
            </a:r>
            <a:r>
              <a:rPr dirty="0" sz="2400" spc="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ONNX</a:t>
            </a:r>
            <a:r>
              <a:rPr dirty="0" sz="24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Runtime</a:t>
            </a:r>
            <a:r>
              <a:rPr dirty="0" sz="24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Mobile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116647" y="5195823"/>
            <a:ext cx="17799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C084FB"/>
                </a:solidFill>
                <a:latin typeface="Calibri"/>
                <a:cs typeface="Calibri"/>
              </a:rPr>
              <a:t>Local</a:t>
            </a:r>
            <a:r>
              <a:rPr dirty="0" sz="2400" spc="-20" b="1">
                <a:solidFill>
                  <a:srgbClr val="C084FB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084FB"/>
                </a:solidFill>
                <a:latin typeface="Calibri"/>
                <a:cs typeface="Calibri"/>
              </a:rPr>
              <a:t>Storage: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408804" y="5191442"/>
            <a:ext cx="366712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SQLite</a:t>
            </a:r>
            <a:r>
              <a:rPr dirty="0" sz="24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dirty="0" sz="2400" spc="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SQLCipher</a:t>
            </a:r>
            <a:r>
              <a:rPr dirty="0" sz="24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(AES-</a:t>
            </a:r>
            <a:r>
              <a:rPr dirty="0" sz="2400" spc="-20">
                <a:solidFill>
                  <a:srgbClr val="FFFFFF"/>
                </a:solidFill>
                <a:latin typeface="Calibri"/>
                <a:cs typeface="Calibri"/>
              </a:rPr>
              <a:t>256)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116647" y="6129972"/>
            <a:ext cx="239903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C084FB"/>
                </a:solidFill>
                <a:latin typeface="Calibri"/>
                <a:cs typeface="Calibri"/>
              </a:rPr>
              <a:t>Behavior</a:t>
            </a:r>
            <a:r>
              <a:rPr dirty="0" sz="2400" spc="-130" b="1">
                <a:solidFill>
                  <a:srgbClr val="C084FB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084FB"/>
                </a:solidFill>
                <a:latin typeface="Calibri"/>
                <a:cs typeface="Calibri"/>
              </a:rPr>
              <a:t>Learning: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408804" y="6255702"/>
            <a:ext cx="3945254" cy="753745"/>
          </a:xfrm>
          <a:prstGeom prst="rect">
            <a:avLst/>
          </a:prstGeom>
        </p:spPr>
        <p:txBody>
          <a:bodyPr wrap="square" lIns="0" tIns="27940" rIns="0" bIns="0" rtlCol="0" vert="horz">
            <a:spAutoFit/>
          </a:bodyPr>
          <a:lstStyle/>
          <a:p>
            <a:pPr marL="12700" marR="5080">
              <a:lnSpc>
                <a:spcPts val="2850"/>
              </a:lnSpc>
              <a:spcBef>
                <a:spcPts val="220"/>
              </a:spcBef>
            </a:pP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LoRA</a:t>
            </a:r>
            <a:r>
              <a:rPr dirty="0" sz="24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Adapters</a:t>
            </a:r>
            <a:r>
              <a:rPr dirty="0" sz="24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·</a:t>
            </a:r>
            <a:r>
              <a:rPr dirty="0" sz="24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On-device</a:t>
            </a:r>
            <a:r>
              <a:rPr dirty="0" sz="24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fine- tuning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116647" y="7369238"/>
            <a:ext cx="233426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C084FB"/>
                </a:solidFill>
                <a:latin typeface="Calibri"/>
                <a:cs typeface="Calibri"/>
              </a:rPr>
              <a:t>Key</a:t>
            </a:r>
            <a:r>
              <a:rPr dirty="0" sz="2400" spc="-100" b="1">
                <a:solidFill>
                  <a:srgbClr val="C084FB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084FB"/>
                </a:solidFill>
                <a:latin typeface="Calibri"/>
                <a:cs typeface="Calibri"/>
              </a:rPr>
              <a:t>Management: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4384040" y="7391717"/>
            <a:ext cx="2812415" cy="7543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87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Android</a:t>
            </a:r>
            <a:r>
              <a:rPr dirty="0" sz="24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FFFFFF"/>
                </a:solidFill>
                <a:latin typeface="Calibri"/>
                <a:cs typeface="Calibri"/>
              </a:rPr>
              <a:t>Keystore</a:t>
            </a:r>
            <a:r>
              <a:rPr dirty="0" sz="24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/</a:t>
            </a:r>
            <a:r>
              <a:rPr dirty="0" sz="24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FFFFFF"/>
                </a:solidFill>
                <a:latin typeface="Calibri"/>
                <a:cs typeface="Calibri"/>
              </a:rPr>
              <a:t>iOS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ts val="2870"/>
              </a:lnSpc>
            </a:pP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Secure</a:t>
            </a:r>
            <a:r>
              <a:rPr dirty="0" sz="2400" spc="-1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Enclave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1067033" y="2048763"/>
            <a:ext cx="4488180" cy="57531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600" b="1">
                <a:latin typeface="Calibri"/>
                <a:cs typeface="Calibri"/>
              </a:rPr>
              <a:t>What</a:t>
            </a:r>
            <a:r>
              <a:rPr dirty="0" sz="3600" spc="-90" b="1">
                <a:latin typeface="Calibri"/>
                <a:cs typeface="Calibri"/>
              </a:rPr>
              <a:t> </a:t>
            </a:r>
            <a:r>
              <a:rPr dirty="0" sz="3600" b="1">
                <a:latin typeface="Calibri"/>
                <a:cs typeface="Calibri"/>
              </a:rPr>
              <a:t>Makes</a:t>
            </a:r>
            <a:r>
              <a:rPr dirty="0" sz="3600" spc="-50" b="1">
                <a:latin typeface="Calibri"/>
                <a:cs typeface="Calibri"/>
              </a:rPr>
              <a:t> </a:t>
            </a:r>
            <a:r>
              <a:rPr dirty="0" sz="3600" b="1">
                <a:latin typeface="Calibri"/>
                <a:cs typeface="Calibri"/>
              </a:rPr>
              <a:t>Us</a:t>
            </a:r>
            <a:r>
              <a:rPr dirty="0" sz="3600" spc="-55" b="1">
                <a:latin typeface="Calibri"/>
                <a:cs typeface="Calibri"/>
              </a:rPr>
              <a:t> </a:t>
            </a:r>
            <a:r>
              <a:rPr dirty="0" sz="3600" spc="-10" b="1">
                <a:latin typeface="Calibri"/>
                <a:cs typeface="Calibri"/>
              </a:rPr>
              <a:t>Unique</a:t>
            </a:r>
            <a:endParaRPr sz="3600">
              <a:latin typeface="Calibri"/>
              <a:cs typeface="Calibri"/>
            </a:endParaRPr>
          </a:p>
        </p:txBody>
      </p:sp>
      <p:pic>
        <p:nvPicPr>
          <p:cNvPr id="16" name="object 1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20425" y="3124136"/>
            <a:ext cx="776287" cy="642937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020425" y="4219511"/>
            <a:ext cx="776287" cy="633412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020425" y="5086286"/>
            <a:ext cx="776287" cy="633412"/>
          </a:xfrm>
          <a:prstGeom prst="rect">
            <a:avLst/>
          </a:prstGeom>
        </p:spPr>
      </p:pic>
      <p:pic>
        <p:nvPicPr>
          <p:cNvPr id="19" name="object 1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020425" y="6143561"/>
            <a:ext cx="776287" cy="633412"/>
          </a:xfrm>
          <a:prstGeom prst="rect">
            <a:avLst/>
          </a:prstGeom>
        </p:spPr>
      </p:pic>
      <p:pic>
        <p:nvPicPr>
          <p:cNvPr id="20" name="object 2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20425" y="7257986"/>
            <a:ext cx="776287" cy="642937"/>
          </a:xfrm>
          <a:prstGeom prst="rect">
            <a:avLst/>
          </a:prstGeom>
        </p:spPr>
      </p:pic>
      <p:sp>
        <p:nvSpPr>
          <p:cNvPr id="21" name="object 21" descr=""/>
          <p:cNvSpPr txBox="1"/>
          <p:nvPr/>
        </p:nvSpPr>
        <p:spPr>
          <a:xfrm>
            <a:off x="11196319" y="3138897"/>
            <a:ext cx="5408295" cy="4874260"/>
          </a:xfrm>
          <a:prstGeom prst="rect">
            <a:avLst/>
          </a:prstGeom>
        </p:spPr>
        <p:txBody>
          <a:bodyPr wrap="square" lIns="0" tIns="75565" rIns="0" bIns="0" rtlCol="0" vert="horz">
            <a:spAutoFit/>
          </a:bodyPr>
          <a:lstStyle/>
          <a:p>
            <a:pPr marL="560070">
              <a:lnSpc>
                <a:spcPct val="100000"/>
              </a:lnSpc>
              <a:spcBef>
                <a:spcPts val="595"/>
              </a:spcBef>
            </a:pPr>
            <a:r>
              <a:rPr dirty="0" sz="2400" b="1">
                <a:solidFill>
                  <a:srgbClr val="C084FB"/>
                </a:solidFill>
                <a:latin typeface="Calibri"/>
                <a:cs typeface="Calibri"/>
              </a:rPr>
              <a:t>Zero</a:t>
            </a:r>
            <a:r>
              <a:rPr dirty="0" sz="2400" spc="-100" b="1">
                <a:solidFill>
                  <a:srgbClr val="C084FB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84FB"/>
                </a:solidFill>
                <a:latin typeface="Calibri"/>
                <a:cs typeface="Calibri"/>
              </a:rPr>
              <a:t>Cloud</a:t>
            </a:r>
            <a:r>
              <a:rPr dirty="0" sz="2400" spc="-35" b="1">
                <a:solidFill>
                  <a:srgbClr val="C084FB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084FB"/>
                </a:solidFill>
                <a:latin typeface="Calibri"/>
                <a:cs typeface="Calibri"/>
              </a:rPr>
              <a:t>Dependency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39"/>
              </a:spcBef>
            </a:pPr>
            <a:r>
              <a:rPr dirty="0" sz="2000">
                <a:solidFill>
                  <a:srgbClr val="9F9FC0"/>
                </a:solidFill>
                <a:latin typeface="Calibri"/>
                <a:cs typeface="Calibri"/>
              </a:rPr>
              <a:t>No</a:t>
            </a:r>
            <a:r>
              <a:rPr dirty="0" sz="2000" spc="-30">
                <a:solidFill>
                  <a:srgbClr val="9F9FC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9F9FC0"/>
                </a:solidFill>
                <a:latin typeface="Calibri"/>
                <a:cs typeface="Calibri"/>
              </a:rPr>
              <a:t>API</a:t>
            </a:r>
            <a:r>
              <a:rPr dirty="0" sz="2000" spc="-70">
                <a:solidFill>
                  <a:srgbClr val="9F9FC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9F9FC0"/>
                </a:solidFill>
                <a:latin typeface="Calibri"/>
                <a:cs typeface="Calibri"/>
              </a:rPr>
              <a:t>keys,</a:t>
            </a:r>
            <a:r>
              <a:rPr dirty="0" sz="2000" spc="5">
                <a:solidFill>
                  <a:srgbClr val="9F9FC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9F9FC0"/>
                </a:solidFill>
                <a:latin typeface="Calibri"/>
                <a:cs typeface="Calibri"/>
              </a:rPr>
              <a:t>no</a:t>
            </a:r>
            <a:r>
              <a:rPr dirty="0" sz="2000" spc="-30">
                <a:solidFill>
                  <a:srgbClr val="9F9FC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9F9FC0"/>
                </a:solidFill>
                <a:latin typeface="Calibri"/>
                <a:cs typeface="Calibri"/>
              </a:rPr>
              <a:t>subscriptions,</a:t>
            </a:r>
            <a:r>
              <a:rPr dirty="0" sz="2000" spc="-65">
                <a:solidFill>
                  <a:srgbClr val="9F9FC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9F9FC0"/>
                </a:solidFill>
                <a:latin typeface="Calibri"/>
                <a:cs typeface="Calibri"/>
              </a:rPr>
              <a:t>no</a:t>
            </a:r>
            <a:r>
              <a:rPr dirty="0" sz="2000" spc="-30">
                <a:solidFill>
                  <a:srgbClr val="9F9FC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9F9FC0"/>
                </a:solidFill>
                <a:latin typeface="Calibri"/>
                <a:cs typeface="Calibri"/>
              </a:rPr>
              <a:t>outages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34"/>
              </a:spcBef>
            </a:pPr>
            <a:endParaRPr sz="2000">
              <a:latin typeface="Calibri"/>
              <a:cs typeface="Calibri"/>
            </a:endParaRPr>
          </a:p>
          <a:p>
            <a:pPr marL="560070">
              <a:lnSpc>
                <a:spcPts val="2790"/>
              </a:lnSpc>
            </a:pPr>
            <a:r>
              <a:rPr dirty="0" sz="2400" spc="-10" b="1">
                <a:solidFill>
                  <a:srgbClr val="C084FB"/>
                </a:solidFill>
                <a:latin typeface="Calibri"/>
                <a:cs typeface="Calibri"/>
              </a:rPr>
              <a:t>True</a:t>
            </a:r>
            <a:r>
              <a:rPr dirty="0" sz="2400" spc="-125" b="1">
                <a:solidFill>
                  <a:srgbClr val="C084FB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84FB"/>
                </a:solidFill>
                <a:latin typeface="Calibri"/>
                <a:cs typeface="Calibri"/>
              </a:rPr>
              <a:t>Adaptive</a:t>
            </a:r>
            <a:r>
              <a:rPr dirty="0" sz="2400" spc="-70" b="1">
                <a:solidFill>
                  <a:srgbClr val="C084FB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084FB"/>
                </a:solidFill>
                <a:latin typeface="Calibri"/>
                <a:cs typeface="Calibri"/>
              </a:rPr>
              <a:t>Personalization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ts val="2310"/>
              </a:lnSpc>
            </a:pPr>
            <a:r>
              <a:rPr dirty="0" sz="2000">
                <a:solidFill>
                  <a:srgbClr val="9F9FC0"/>
                </a:solidFill>
                <a:latin typeface="Calibri"/>
                <a:cs typeface="Calibri"/>
              </a:rPr>
              <a:t>Model</a:t>
            </a:r>
            <a:r>
              <a:rPr dirty="0" sz="2000" spc="-70">
                <a:solidFill>
                  <a:srgbClr val="9F9FC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9F9FC0"/>
                </a:solidFill>
                <a:latin typeface="Calibri"/>
                <a:cs typeface="Calibri"/>
              </a:rPr>
              <a:t>actually</a:t>
            </a:r>
            <a:r>
              <a:rPr dirty="0" sz="2000" spc="-65">
                <a:solidFill>
                  <a:srgbClr val="9F9FC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9F9FC0"/>
                </a:solidFill>
                <a:latin typeface="Calibri"/>
                <a:cs typeface="Calibri"/>
              </a:rPr>
              <a:t>improves</a:t>
            </a:r>
            <a:r>
              <a:rPr dirty="0" sz="2000" spc="-30">
                <a:solidFill>
                  <a:srgbClr val="9F9FC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9F9FC0"/>
                </a:solidFill>
                <a:latin typeface="Calibri"/>
                <a:cs typeface="Calibri"/>
              </a:rPr>
              <a:t>to</a:t>
            </a:r>
            <a:r>
              <a:rPr dirty="0" sz="2000" spc="-70">
                <a:solidFill>
                  <a:srgbClr val="9F9FC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9F9FC0"/>
                </a:solidFill>
                <a:latin typeface="Calibri"/>
                <a:cs typeface="Calibri"/>
              </a:rPr>
              <a:t>YOUR</a:t>
            </a:r>
            <a:r>
              <a:rPr dirty="0" sz="2000" spc="-30">
                <a:solidFill>
                  <a:srgbClr val="9F9FC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9F9FC0"/>
                </a:solidFill>
                <a:latin typeface="Calibri"/>
                <a:cs typeface="Calibri"/>
              </a:rPr>
              <a:t>habits</a:t>
            </a:r>
            <a:endParaRPr sz="2000">
              <a:latin typeface="Calibri"/>
              <a:cs typeface="Calibri"/>
            </a:endParaRPr>
          </a:p>
          <a:p>
            <a:pPr marL="560070">
              <a:lnSpc>
                <a:spcPts val="2795"/>
              </a:lnSpc>
              <a:spcBef>
                <a:spcPts val="1745"/>
              </a:spcBef>
            </a:pPr>
            <a:r>
              <a:rPr dirty="0" sz="2400" spc="-25" b="1">
                <a:solidFill>
                  <a:srgbClr val="C084FB"/>
                </a:solidFill>
                <a:latin typeface="Calibri"/>
                <a:cs typeface="Calibri"/>
              </a:rPr>
              <a:t>Transparent</a:t>
            </a:r>
            <a:r>
              <a:rPr dirty="0" sz="2400" spc="-85" b="1">
                <a:solidFill>
                  <a:srgbClr val="C084FB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84FB"/>
                </a:solidFill>
                <a:latin typeface="Calibri"/>
                <a:cs typeface="Calibri"/>
              </a:rPr>
              <a:t>Privacy</a:t>
            </a:r>
            <a:r>
              <a:rPr dirty="0" sz="2400" spc="-80" b="1">
                <a:solidFill>
                  <a:srgbClr val="C084FB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084FB"/>
                </a:solidFill>
                <a:latin typeface="Calibri"/>
                <a:cs typeface="Calibri"/>
              </a:rPr>
              <a:t>Controls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ts val="2315"/>
              </a:lnSpc>
            </a:pPr>
            <a:r>
              <a:rPr dirty="0" sz="2000" spc="-40">
                <a:solidFill>
                  <a:srgbClr val="9F9FC0"/>
                </a:solidFill>
                <a:latin typeface="Calibri"/>
                <a:cs typeface="Calibri"/>
              </a:rPr>
              <a:t>You </a:t>
            </a:r>
            <a:r>
              <a:rPr dirty="0" sz="2000">
                <a:solidFill>
                  <a:srgbClr val="9F9FC0"/>
                </a:solidFill>
                <a:latin typeface="Calibri"/>
                <a:cs typeface="Calibri"/>
              </a:rPr>
              <a:t>see</a:t>
            </a:r>
            <a:r>
              <a:rPr dirty="0" sz="2000" spc="-55">
                <a:solidFill>
                  <a:srgbClr val="9F9FC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9F9FC0"/>
                </a:solidFill>
                <a:latin typeface="Calibri"/>
                <a:cs typeface="Calibri"/>
              </a:rPr>
              <a:t>and</a:t>
            </a:r>
            <a:r>
              <a:rPr dirty="0" sz="2000" spc="-35">
                <a:solidFill>
                  <a:srgbClr val="9F9FC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9F9FC0"/>
                </a:solidFill>
                <a:latin typeface="Calibri"/>
                <a:cs typeface="Calibri"/>
              </a:rPr>
              <a:t>own</a:t>
            </a:r>
            <a:r>
              <a:rPr dirty="0" sz="2000" spc="-35">
                <a:solidFill>
                  <a:srgbClr val="9F9FC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9F9FC0"/>
                </a:solidFill>
                <a:latin typeface="Calibri"/>
                <a:cs typeface="Calibri"/>
              </a:rPr>
              <a:t>everything</a:t>
            </a:r>
            <a:r>
              <a:rPr dirty="0" sz="2000" spc="-70">
                <a:solidFill>
                  <a:srgbClr val="9F9FC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9F9FC0"/>
                </a:solidFill>
                <a:latin typeface="Calibri"/>
                <a:cs typeface="Calibri"/>
              </a:rPr>
              <a:t>the</a:t>
            </a:r>
            <a:r>
              <a:rPr dirty="0" sz="2000" spc="15">
                <a:solidFill>
                  <a:srgbClr val="9F9FC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9F9FC0"/>
                </a:solidFill>
                <a:latin typeface="Calibri"/>
                <a:cs typeface="Calibri"/>
              </a:rPr>
              <a:t>AI</a:t>
            </a:r>
            <a:r>
              <a:rPr dirty="0" sz="2000" spc="-10">
                <a:solidFill>
                  <a:srgbClr val="9F9FC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9F9FC0"/>
                </a:solidFill>
                <a:latin typeface="Calibri"/>
                <a:cs typeface="Calibri"/>
              </a:rPr>
              <a:t>knows</a:t>
            </a:r>
            <a:r>
              <a:rPr dirty="0" sz="2000" spc="-65">
                <a:solidFill>
                  <a:srgbClr val="9F9FC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9F9FC0"/>
                </a:solidFill>
                <a:latin typeface="Calibri"/>
                <a:cs typeface="Calibri"/>
              </a:rPr>
              <a:t>about</a:t>
            </a:r>
            <a:r>
              <a:rPr dirty="0" sz="2000" spc="-20">
                <a:solidFill>
                  <a:srgbClr val="9F9FC0"/>
                </a:solidFill>
                <a:latin typeface="Calibri"/>
                <a:cs typeface="Calibri"/>
              </a:rPr>
              <a:t> </a:t>
            </a:r>
            <a:r>
              <a:rPr dirty="0" sz="2000" spc="-25">
                <a:solidFill>
                  <a:srgbClr val="9F9FC0"/>
                </a:solidFill>
                <a:latin typeface="Calibri"/>
                <a:cs typeface="Calibri"/>
              </a:rPr>
              <a:t>you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55"/>
              </a:spcBef>
            </a:pPr>
            <a:endParaRPr sz="2000">
              <a:latin typeface="Calibri"/>
              <a:cs typeface="Calibri"/>
            </a:endParaRPr>
          </a:p>
          <a:p>
            <a:pPr marL="560070">
              <a:lnSpc>
                <a:spcPts val="2610"/>
              </a:lnSpc>
              <a:spcBef>
                <a:spcPts val="5"/>
              </a:spcBef>
            </a:pPr>
            <a:r>
              <a:rPr dirty="0" sz="2400" spc="-20" b="1">
                <a:solidFill>
                  <a:srgbClr val="C084FB"/>
                </a:solidFill>
                <a:latin typeface="Calibri"/>
                <a:cs typeface="Calibri"/>
              </a:rPr>
              <a:t>Works</a:t>
            </a:r>
            <a:r>
              <a:rPr dirty="0" sz="2400" spc="-80" b="1">
                <a:solidFill>
                  <a:srgbClr val="C084FB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84FB"/>
                </a:solidFill>
                <a:latin typeface="Calibri"/>
                <a:cs typeface="Calibri"/>
              </a:rPr>
              <a:t>Offline,</a:t>
            </a:r>
            <a:r>
              <a:rPr dirty="0" sz="2400" spc="-40" b="1">
                <a:solidFill>
                  <a:srgbClr val="C084FB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084FB"/>
                </a:solidFill>
                <a:latin typeface="Calibri"/>
                <a:cs typeface="Calibri"/>
              </a:rPr>
              <a:t>Always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ts val="2610"/>
              </a:lnSpc>
            </a:pPr>
            <a:r>
              <a:rPr dirty="0" sz="2400">
                <a:solidFill>
                  <a:srgbClr val="9F9FC0"/>
                </a:solidFill>
                <a:latin typeface="Calibri"/>
                <a:cs typeface="Calibri"/>
              </a:rPr>
              <a:t>Airplane mode?</a:t>
            </a:r>
            <a:r>
              <a:rPr dirty="0" sz="2400" spc="-50">
                <a:solidFill>
                  <a:srgbClr val="9F9FC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9F9FC0"/>
                </a:solidFill>
                <a:latin typeface="Calibri"/>
                <a:cs typeface="Calibri"/>
              </a:rPr>
              <a:t>Still</a:t>
            </a:r>
            <a:r>
              <a:rPr dirty="0" sz="2400" spc="-85">
                <a:solidFill>
                  <a:srgbClr val="9F9FC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9F9FC0"/>
                </a:solidFill>
                <a:latin typeface="Calibri"/>
                <a:cs typeface="Calibri"/>
              </a:rPr>
              <a:t>fully</a:t>
            </a:r>
            <a:r>
              <a:rPr dirty="0" sz="2400" spc="-105">
                <a:solidFill>
                  <a:srgbClr val="9F9FC0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9F9FC0"/>
                </a:solidFill>
                <a:latin typeface="Calibri"/>
                <a:cs typeface="Calibri"/>
              </a:rPr>
              <a:t>functional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sz="2400">
              <a:latin typeface="Calibri"/>
              <a:cs typeface="Calibri"/>
            </a:endParaRPr>
          </a:p>
          <a:p>
            <a:pPr marL="560070">
              <a:lnSpc>
                <a:spcPts val="2790"/>
              </a:lnSpc>
            </a:pPr>
            <a:r>
              <a:rPr dirty="0" sz="2400" b="1">
                <a:solidFill>
                  <a:srgbClr val="C084FB"/>
                </a:solidFill>
                <a:latin typeface="Calibri"/>
                <a:cs typeface="Calibri"/>
              </a:rPr>
              <a:t>No</a:t>
            </a:r>
            <a:r>
              <a:rPr dirty="0" sz="2400" spc="-40" b="1">
                <a:solidFill>
                  <a:srgbClr val="C084FB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84FB"/>
                </a:solidFill>
                <a:latin typeface="Calibri"/>
                <a:cs typeface="Calibri"/>
              </a:rPr>
              <a:t>Ads,</a:t>
            </a:r>
            <a:r>
              <a:rPr dirty="0" sz="2400" spc="-40" b="1">
                <a:solidFill>
                  <a:srgbClr val="C084FB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84FB"/>
                </a:solidFill>
                <a:latin typeface="Calibri"/>
                <a:cs typeface="Calibri"/>
              </a:rPr>
              <a:t>No</a:t>
            </a:r>
            <a:r>
              <a:rPr dirty="0" sz="2400" spc="35" b="1">
                <a:solidFill>
                  <a:srgbClr val="C084FB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084FB"/>
                </a:solidFill>
                <a:latin typeface="Calibri"/>
                <a:cs typeface="Calibri"/>
              </a:rPr>
              <a:t>Profiling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ts val="2310"/>
              </a:lnSpc>
            </a:pPr>
            <a:r>
              <a:rPr dirty="0" sz="2000">
                <a:solidFill>
                  <a:srgbClr val="9F9FC0"/>
                </a:solidFill>
                <a:latin typeface="Calibri"/>
                <a:cs typeface="Calibri"/>
              </a:rPr>
              <a:t>No</a:t>
            </a:r>
            <a:r>
              <a:rPr dirty="0" sz="2000" spc="-50">
                <a:solidFill>
                  <a:srgbClr val="9F9FC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9F9FC0"/>
                </a:solidFill>
                <a:latin typeface="Calibri"/>
                <a:cs typeface="Calibri"/>
              </a:rPr>
              <a:t>behavioral</a:t>
            </a:r>
            <a:r>
              <a:rPr dirty="0" sz="2000" spc="-40">
                <a:solidFill>
                  <a:srgbClr val="9F9FC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9F9FC0"/>
                </a:solidFill>
                <a:latin typeface="Calibri"/>
                <a:cs typeface="Calibri"/>
              </a:rPr>
              <a:t>data</a:t>
            </a:r>
            <a:r>
              <a:rPr dirty="0" sz="2000" spc="-20">
                <a:solidFill>
                  <a:srgbClr val="9F9FC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9F9FC0"/>
                </a:solidFill>
                <a:latin typeface="Calibri"/>
                <a:cs typeface="Calibri"/>
              </a:rPr>
              <a:t>for</a:t>
            </a:r>
            <a:r>
              <a:rPr dirty="0" sz="2000" spc="-60">
                <a:solidFill>
                  <a:srgbClr val="9F9FC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9F9FC0"/>
                </a:solidFill>
                <a:latin typeface="Calibri"/>
                <a:cs typeface="Calibri"/>
              </a:rPr>
              <a:t>advertisers</a:t>
            </a:r>
            <a:r>
              <a:rPr dirty="0" sz="2000" spc="-15">
                <a:solidFill>
                  <a:srgbClr val="9F9FC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9F9FC0"/>
                </a:solidFill>
                <a:latin typeface="Calibri"/>
                <a:cs typeface="Calibri"/>
              </a:rPr>
              <a:t>—</a:t>
            </a:r>
            <a:r>
              <a:rPr dirty="0" sz="2000" spc="-50">
                <a:solidFill>
                  <a:srgbClr val="9F9FC0"/>
                </a:solidFill>
                <a:latin typeface="Calibri"/>
                <a:cs typeface="Calibri"/>
              </a:rPr>
              <a:t> </a:t>
            </a:r>
            <a:r>
              <a:rPr dirty="0" sz="2000" spc="-20">
                <a:solidFill>
                  <a:srgbClr val="9F9FC0"/>
                </a:solidFill>
                <a:latin typeface="Calibri"/>
                <a:cs typeface="Calibri"/>
              </a:rPr>
              <a:t>ever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2" name="object 22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14950" y="8134349"/>
            <a:ext cx="7658100" cy="21526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2026-02-22T12:40:39Z</dcterms:created>
  <dcterms:modified xsi:type="dcterms:W3CDTF">2026-02-22T12:40:39Z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2026-02-21T00:00:00Z</vt:filetime>
  </property>
  <property fmtid="{D5CDD505-2E9C-101B-9397-08002B2CF9AE}" pid="3" name="Creator">
    <vt:lpwstr>PDFium</vt:lpwstr>
  </property>
  <property fmtid="{D5CDD505-2E9C-101B-9397-08002B2CF9AE}" pid="4" name="Producer">
    <vt:lpwstr>PDFium</vt:lpwstr>
  </property>
  <property fmtid="{D5CDD505-2E9C-101B-9397-08002B2CF9AE}" pid="5" name="LastSaved">
    <vt:filetime>2026-02-21T00:00:00Z</vt:filetime>
  </property>
</Properties>
</file>